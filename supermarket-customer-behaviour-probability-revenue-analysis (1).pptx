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3" r:id="rId14"/>
    <p:sldId id="268" r:id="rId15"/>
    <p:sldId id="274" r:id="rId16"/>
    <p:sldId id="269" r:id="rId17"/>
    <p:sldId id="270" r:id="rId18"/>
    <p:sldId id="272" r:id="rId1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E99"/>
    <a:srgbClr val="2EB5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97" y="-2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>
                <a:solidFill>
                  <a:schemeClr val="bg1">
                    <a:lumMod val="85000"/>
                  </a:schemeClr>
                </a:solidFill>
              </a:rPr>
              <a:t>Avg. Sales by Product Line (₹)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2EB59A"/>
            </a:solidFill>
          </c:spPr>
          <c:invertIfNegative val="1"/>
          <c:cat>
            <c:strRef>
              <c:f>Sheet1!$A$2:$A$7</c:f>
              <c:strCache>
                <c:ptCount val="6"/>
                <c:pt idx="0">
                  <c:v>Electronic</c:v>
                </c:pt>
                <c:pt idx="1">
                  <c:v>Fashion</c:v>
                </c:pt>
                <c:pt idx="2">
                  <c:v>Food</c:v>
                </c:pt>
                <c:pt idx="3">
                  <c:v>Health</c:v>
                </c:pt>
                <c:pt idx="4">
                  <c:v>Home</c:v>
                </c:pt>
                <c:pt idx="5">
                  <c:v>Sports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319.63</c:v>
                </c:pt>
                <c:pt idx="1">
                  <c:v>305.08999999999997</c:v>
                </c:pt>
                <c:pt idx="2">
                  <c:v>322.67</c:v>
                </c:pt>
                <c:pt idx="3">
                  <c:v>323.64</c:v>
                </c:pt>
                <c:pt idx="4">
                  <c:v>336.64</c:v>
                </c:pt>
                <c:pt idx="5">
                  <c:v>332.07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611-4E7B-9B12-9851942DEE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>
          <a:solidFill>
            <a:schemeClr val="bg1">
              <a:lumMod val="85000"/>
            </a:schemeClr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100">
                <a:solidFill>
                  <a:srgbClr val="E8E4DC"/>
                </a:solidFill>
              </a:rPr>
              <a:t>Product Line Frequency — barplot(table(df$Product.line))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2EB59A"/>
              </a:solidFill>
            </c:spPr>
            <c:extLst>
              <c:ext xmlns:c16="http://schemas.microsoft.com/office/drawing/2014/chart" uri="{C3380CC4-5D6E-409C-BE32-E72D297353CC}">
                <c16:uniqueId val="{00000001-6639-46B1-B23A-66FFE929E436}"/>
              </c:ext>
            </c:extLst>
          </c:dPt>
          <c:dPt>
            <c:idx val="1"/>
            <c:invertIfNegative val="1"/>
            <c:bubble3D val="0"/>
            <c:spPr>
              <a:solidFill>
                <a:srgbClr val="8B6BD4"/>
              </a:solidFill>
            </c:spPr>
            <c:extLst>
              <c:ext xmlns:c16="http://schemas.microsoft.com/office/drawing/2014/chart" uri="{C3380CC4-5D6E-409C-BE32-E72D297353CC}">
                <c16:uniqueId val="{00000003-6639-46B1-B23A-66FFE929E436}"/>
              </c:ext>
            </c:extLst>
          </c:dPt>
          <c:dPt>
            <c:idx val="2"/>
            <c:invertIfNegative val="1"/>
            <c:bubble3D val="0"/>
            <c:spPr>
              <a:solidFill>
                <a:srgbClr val="E8A03C"/>
              </a:solidFill>
            </c:spPr>
            <c:extLst>
              <c:ext xmlns:c16="http://schemas.microsoft.com/office/drawing/2014/chart" uri="{C3380CC4-5D6E-409C-BE32-E72D297353CC}">
                <c16:uniqueId val="{00000005-6639-46B1-B23A-66FFE929E436}"/>
              </c:ext>
            </c:extLst>
          </c:dPt>
          <c:dPt>
            <c:idx val="3"/>
            <c:invertIfNegative val="1"/>
            <c:bubble3D val="0"/>
            <c:spPr>
              <a:solidFill>
                <a:srgbClr val="D65F5F"/>
              </a:solidFill>
            </c:spPr>
            <c:extLst>
              <c:ext xmlns:c16="http://schemas.microsoft.com/office/drawing/2014/chart" uri="{C3380CC4-5D6E-409C-BE32-E72D297353CC}">
                <c16:uniqueId val="{00000007-6639-46B1-B23A-66FFE929E436}"/>
              </c:ext>
            </c:extLst>
          </c:dPt>
          <c:dPt>
            <c:idx val="4"/>
            <c:invertIfNegative val="1"/>
            <c:bubble3D val="0"/>
            <c:spPr>
              <a:solidFill>
                <a:srgbClr val="2EB59A"/>
              </a:solidFill>
            </c:spPr>
            <c:extLst>
              <c:ext xmlns:c16="http://schemas.microsoft.com/office/drawing/2014/chart" uri="{C3380CC4-5D6E-409C-BE32-E72D297353CC}">
                <c16:uniqueId val="{00000009-6639-46B1-B23A-66FFE929E436}"/>
              </c:ext>
            </c:extLst>
          </c:dPt>
          <c:dPt>
            <c:idx val="5"/>
            <c:invertIfNegative val="1"/>
            <c:bubble3D val="0"/>
            <c:spPr>
              <a:solidFill>
                <a:srgbClr val="7C8BA8"/>
              </a:solidFill>
            </c:spPr>
            <c:extLst>
              <c:ext xmlns:c16="http://schemas.microsoft.com/office/drawing/2014/chart" uri="{C3380CC4-5D6E-409C-BE32-E72D297353CC}">
                <c16:uniqueId val="{0000000B-6639-46B1-B23A-66FFE929E436}"/>
              </c:ext>
            </c:extLst>
          </c:dPt>
          <c:cat>
            <c:strRef>
              <c:f>Sheet1!$A$2:$A$7</c:f>
              <c:strCache>
                <c:ptCount val="6"/>
                <c:pt idx="0">
                  <c:v>Elec.</c:v>
                </c:pt>
                <c:pt idx="1">
                  <c:v>Fashion</c:v>
                </c:pt>
                <c:pt idx="2">
                  <c:v>Food</c:v>
                </c:pt>
                <c:pt idx="3">
                  <c:v>Health</c:v>
                </c:pt>
                <c:pt idx="4">
                  <c:v>Home</c:v>
                </c:pt>
                <c:pt idx="5">
                  <c:v>Sports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170</c:v>
                </c:pt>
                <c:pt idx="1">
                  <c:v>178</c:v>
                </c:pt>
                <c:pt idx="2">
                  <c:v>174</c:v>
                </c:pt>
                <c:pt idx="3">
                  <c:v>152</c:v>
                </c:pt>
                <c:pt idx="4">
                  <c:v>160</c:v>
                </c:pt>
                <c:pt idx="5">
                  <c:v>166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639-46B1-B23A-66FFE929E4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bg1">
                    <a:lumMod val="85000"/>
                  </a:schemeClr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bg1">
                    <a:lumMod val="85000"/>
                  </a:schemeClr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P(X=k)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2E887A"/>
              </a:solidFill>
            </c:spPr>
            <c:extLst>
              <c:ext xmlns:c16="http://schemas.microsoft.com/office/drawing/2014/chart" uri="{C3380CC4-5D6E-409C-BE32-E72D297353CC}">
                <c16:uniqueId val="{00000001-CB69-4D36-A351-F24957599896}"/>
              </c:ext>
            </c:extLst>
          </c:dPt>
          <c:dPt>
            <c:idx val="1"/>
            <c:invertIfNegative val="1"/>
            <c:bubble3D val="0"/>
            <c:spPr>
              <a:solidFill>
                <a:srgbClr val="2E887A"/>
              </a:solidFill>
            </c:spPr>
            <c:extLst>
              <c:ext xmlns:c16="http://schemas.microsoft.com/office/drawing/2014/chart" uri="{C3380CC4-5D6E-409C-BE32-E72D297353CC}">
                <c16:uniqueId val="{00000003-CB69-4D36-A351-F24957599896}"/>
              </c:ext>
            </c:extLst>
          </c:dPt>
          <c:dPt>
            <c:idx val="2"/>
            <c:invertIfNegative val="1"/>
            <c:bubble3D val="0"/>
            <c:spPr>
              <a:solidFill>
                <a:srgbClr val="2E887A"/>
              </a:solidFill>
            </c:spPr>
            <c:extLst>
              <c:ext xmlns:c16="http://schemas.microsoft.com/office/drawing/2014/chart" uri="{C3380CC4-5D6E-409C-BE32-E72D297353CC}">
                <c16:uniqueId val="{00000005-CB69-4D36-A351-F24957599896}"/>
              </c:ext>
            </c:extLst>
          </c:dPt>
          <c:dPt>
            <c:idx val="3"/>
            <c:invertIfNegative val="1"/>
            <c:bubble3D val="0"/>
            <c:spPr>
              <a:solidFill>
                <a:srgbClr val="E8A03C"/>
              </a:solidFill>
            </c:spPr>
            <c:extLst>
              <c:ext xmlns:c16="http://schemas.microsoft.com/office/drawing/2014/chart" uri="{C3380CC4-5D6E-409C-BE32-E72D297353CC}">
                <c16:uniqueId val="{00000007-CB69-4D36-A351-F24957599896}"/>
              </c:ext>
            </c:extLst>
          </c:dPt>
          <c:dPt>
            <c:idx val="4"/>
            <c:invertIfNegative val="1"/>
            <c:bubble3D val="0"/>
            <c:spPr>
              <a:solidFill>
                <a:srgbClr val="2E887A"/>
              </a:solidFill>
            </c:spPr>
            <c:extLst>
              <c:ext xmlns:c16="http://schemas.microsoft.com/office/drawing/2014/chart" uri="{C3380CC4-5D6E-409C-BE32-E72D297353CC}">
                <c16:uniqueId val="{00000009-CB69-4D36-A351-F24957599896}"/>
              </c:ext>
            </c:extLst>
          </c:dPt>
          <c:dPt>
            <c:idx val="5"/>
            <c:invertIfNegative val="1"/>
            <c:bubble3D val="0"/>
            <c:spPr>
              <a:solidFill>
                <a:srgbClr val="2E887A"/>
              </a:solidFill>
            </c:spPr>
            <c:extLst>
              <c:ext xmlns:c16="http://schemas.microsoft.com/office/drawing/2014/chart" uri="{C3380CC4-5D6E-409C-BE32-E72D297353CC}">
                <c16:uniqueId val="{0000000B-CB69-4D36-A351-F24957599896}"/>
              </c:ext>
            </c:extLst>
          </c:dPt>
          <c:dPt>
            <c:idx val="6"/>
            <c:invertIfNegative val="1"/>
            <c:bubble3D val="0"/>
            <c:spPr>
              <a:solidFill>
                <a:srgbClr val="2E887A"/>
              </a:solidFill>
            </c:spPr>
            <c:extLst>
              <c:ext xmlns:c16="http://schemas.microsoft.com/office/drawing/2014/chart" uri="{C3380CC4-5D6E-409C-BE32-E72D297353CC}">
                <c16:uniqueId val="{0000000D-CB69-4D36-A351-F24957599896}"/>
              </c:ext>
            </c:extLst>
          </c:dPt>
          <c:dPt>
            <c:idx val="7"/>
            <c:invertIfNegative val="1"/>
            <c:bubble3D val="0"/>
            <c:spPr>
              <a:solidFill>
                <a:srgbClr val="2E887A"/>
              </a:solidFill>
            </c:spPr>
            <c:extLst>
              <c:ext xmlns:c16="http://schemas.microsoft.com/office/drawing/2014/chart" uri="{C3380CC4-5D6E-409C-BE32-E72D297353CC}">
                <c16:uniqueId val="{0000000F-CB69-4D36-A351-F24957599896}"/>
              </c:ext>
            </c:extLst>
          </c:dPt>
          <c:dPt>
            <c:idx val="8"/>
            <c:invertIfNegative val="1"/>
            <c:bubble3D val="0"/>
            <c:spPr>
              <a:solidFill>
                <a:srgbClr val="2E887A"/>
              </a:solidFill>
            </c:spPr>
            <c:extLst>
              <c:ext xmlns:c16="http://schemas.microsoft.com/office/drawing/2014/chart" uri="{C3380CC4-5D6E-409C-BE32-E72D297353CC}">
                <c16:uniqueId val="{00000011-CB69-4D36-A351-F24957599896}"/>
              </c:ext>
            </c:extLst>
          </c:dPt>
          <c:dPt>
            <c:idx val="9"/>
            <c:invertIfNegative val="1"/>
            <c:bubble3D val="0"/>
            <c:spPr>
              <a:solidFill>
                <a:srgbClr val="2E887A"/>
              </a:solidFill>
            </c:spPr>
            <c:extLst>
              <c:ext xmlns:c16="http://schemas.microsoft.com/office/drawing/2014/chart" uri="{C3380CC4-5D6E-409C-BE32-E72D297353CC}">
                <c16:uniqueId val="{00000013-CB69-4D36-A351-F24957599896}"/>
              </c:ext>
            </c:extLst>
          </c:dPt>
          <c:dPt>
            <c:idx val="10"/>
            <c:invertIfNegative val="1"/>
            <c:bubble3D val="0"/>
            <c:spPr>
              <a:solidFill>
                <a:srgbClr val="2E887A"/>
              </a:solidFill>
            </c:spPr>
            <c:extLst>
              <c:ext xmlns:c16="http://schemas.microsoft.com/office/drawing/2014/chart" uri="{C3380CC4-5D6E-409C-BE32-E72D297353CC}">
                <c16:uniqueId val="{00000015-CB69-4D36-A351-F24957599896}"/>
              </c:ext>
            </c:extLst>
          </c:dPt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2.4260099042132421E-4</c:v>
                </c:pt>
                <c:pt idx="1">
                  <c:v>3.1510243583459346E-3</c:v>
                </c:pt>
                <c:pt idx="2">
                  <c:v>1.84171940944702E-2</c:v>
                </c:pt>
                <c:pt idx="3">
                  <c:v>6.3789821691191795E-2</c:v>
                </c:pt>
                <c:pt idx="4">
                  <c:v>0.14499353148773764</c:v>
                </c:pt>
                <c:pt idx="5">
                  <c:v>0.22598991804295654</c:v>
                </c:pt>
                <c:pt idx="6">
                  <c:v>0.24460594577446437</c:v>
                </c:pt>
                <c:pt idx="7">
                  <c:v>0.1815466132841673</c:v>
                </c:pt>
                <c:pt idx="8">
                  <c:v>8.8425721125478016E-2</c:v>
                </c:pt>
                <c:pt idx="9">
                  <c:v>2.5522621934046009E-2</c:v>
                </c:pt>
                <c:pt idx="10">
                  <c:v>3.3150072167209177E-3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CB69-4D36-A351-F249575998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>
          <a:solidFill>
            <a:schemeClr val="bg1">
              <a:lumMod val="85000"/>
            </a:schemeClr>
          </a:solidFill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P(X=k)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2E887A"/>
              </a:solidFill>
            </c:spPr>
            <c:extLst>
              <c:ext xmlns:c16="http://schemas.microsoft.com/office/drawing/2014/chart" uri="{C3380CC4-5D6E-409C-BE32-E72D297353CC}">
                <c16:uniqueId val="{00000001-CB69-4D36-A351-F24957599896}"/>
              </c:ext>
            </c:extLst>
          </c:dPt>
          <c:dPt>
            <c:idx val="1"/>
            <c:invertIfNegative val="1"/>
            <c:bubble3D val="0"/>
            <c:spPr>
              <a:solidFill>
                <a:srgbClr val="2E887A"/>
              </a:solidFill>
            </c:spPr>
            <c:extLst>
              <c:ext xmlns:c16="http://schemas.microsoft.com/office/drawing/2014/chart" uri="{C3380CC4-5D6E-409C-BE32-E72D297353CC}">
                <c16:uniqueId val="{00000003-CB69-4D36-A351-F24957599896}"/>
              </c:ext>
            </c:extLst>
          </c:dPt>
          <c:dPt>
            <c:idx val="2"/>
            <c:invertIfNegative val="1"/>
            <c:bubble3D val="0"/>
            <c:spPr>
              <a:solidFill>
                <a:srgbClr val="2E887A"/>
              </a:solidFill>
            </c:spPr>
            <c:extLst>
              <c:ext xmlns:c16="http://schemas.microsoft.com/office/drawing/2014/chart" uri="{C3380CC4-5D6E-409C-BE32-E72D297353CC}">
                <c16:uniqueId val="{00000005-CB69-4D36-A351-F24957599896}"/>
              </c:ext>
            </c:extLst>
          </c:dPt>
          <c:dPt>
            <c:idx val="3"/>
            <c:invertIfNegative val="1"/>
            <c:bubble3D val="0"/>
            <c:spPr>
              <a:solidFill>
                <a:srgbClr val="E8A03C"/>
              </a:solidFill>
            </c:spPr>
            <c:extLst>
              <c:ext xmlns:c16="http://schemas.microsoft.com/office/drawing/2014/chart" uri="{C3380CC4-5D6E-409C-BE32-E72D297353CC}">
                <c16:uniqueId val="{00000007-CB69-4D36-A351-F24957599896}"/>
              </c:ext>
            </c:extLst>
          </c:dPt>
          <c:dPt>
            <c:idx val="4"/>
            <c:invertIfNegative val="1"/>
            <c:bubble3D val="0"/>
            <c:spPr>
              <a:solidFill>
                <a:srgbClr val="2E887A"/>
              </a:solidFill>
            </c:spPr>
            <c:extLst>
              <c:ext xmlns:c16="http://schemas.microsoft.com/office/drawing/2014/chart" uri="{C3380CC4-5D6E-409C-BE32-E72D297353CC}">
                <c16:uniqueId val="{00000009-CB69-4D36-A351-F24957599896}"/>
              </c:ext>
            </c:extLst>
          </c:dPt>
          <c:dPt>
            <c:idx val="5"/>
            <c:invertIfNegative val="1"/>
            <c:bubble3D val="0"/>
            <c:spPr>
              <a:solidFill>
                <a:srgbClr val="2E887A"/>
              </a:solidFill>
            </c:spPr>
            <c:extLst>
              <c:ext xmlns:c16="http://schemas.microsoft.com/office/drawing/2014/chart" uri="{C3380CC4-5D6E-409C-BE32-E72D297353CC}">
                <c16:uniqueId val="{0000000B-CB69-4D36-A351-F24957599896}"/>
              </c:ext>
            </c:extLst>
          </c:dPt>
          <c:dPt>
            <c:idx val="6"/>
            <c:invertIfNegative val="1"/>
            <c:bubble3D val="0"/>
            <c:spPr>
              <a:solidFill>
                <a:srgbClr val="2E887A"/>
              </a:solidFill>
            </c:spPr>
            <c:extLst>
              <c:ext xmlns:c16="http://schemas.microsoft.com/office/drawing/2014/chart" uri="{C3380CC4-5D6E-409C-BE32-E72D297353CC}">
                <c16:uniqueId val="{0000000D-CB69-4D36-A351-F24957599896}"/>
              </c:ext>
            </c:extLst>
          </c:dPt>
          <c:dPt>
            <c:idx val="7"/>
            <c:invertIfNegative val="1"/>
            <c:bubble3D val="0"/>
            <c:spPr>
              <a:solidFill>
                <a:srgbClr val="2E887A"/>
              </a:solidFill>
            </c:spPr>
            <c:extLst>
              <c:ext xmlns:c16="http://schemas.microsoft.com/office/drawing/2014/chart" uri="{C3380CC4-5D6E-409C-BE32-E72D297353CC}">
                <c16:uniqueId val="{0000000F-CB69-4D36-A351-F24957599896}"/>
              </c:ext>
            </c:extLst>
          </c:dPt>
          <c:dPt>
            <c:idx val="8"/>
            <c:invertIfNegative val="1"/>
            <c:bubble3D val="0"/>
            <c:spPr>
              <a:solidFill>
                <a:srgbClr val="2E887A"/>
              </a:solidFill>
            </c:spPr>
            <c:extLst>
              <c:ext xmlns:c16="http://schemas.microsoft.com/office/drawing/2014/chart" uri="{C3380CC4-5D6E-409C-BE32-E72D297353CC}">
                <c16:uniqueId val="{00000011-CB69-4D36-A351-F24957599896}"/>
              </c:ext>
            </c:extLst>
          </c:dPt>
          <c:dPt>
            <c:idx val="9"/>
            <c:invertIfNegative val="1"/>
            <c:bubble3D val="0"/>
            <c:spPr>
              <a:solidFill>
                <a:srgbClr val="2E887A"/>
              </a:solidFill>
            </c:spPr>
            <c:extLst>
              <c:ext xmlns:c16="http://schemas.microsoft.com/office/drawing/2014/chart" uri="{C3380CC4-5D6E-409C-BE32-E72D297353CC}">
                <c16:uniqueId val="{00000013-CB69-4D36-A351-F24957599896}"/>
              </c:ext>
            </c:extLst>
          </c:dPt>
          <c:dPt>
            <c:idx val="10"/>
            <c:invertIfNegative val="1"/>
            <c:bubble3D val="0"/>
            <c:spPr>
              <a:solidFill>
                <a:srgbClr val="2E887A"/>
              </a:solidFill>
            </c:spPr>
            <c:extLst>
              <c:ext xmlns:c16="http://schemas.microsoft.com/office/drawing/2014/chart" uri="{C3380CC4-5D6E-409C-BE32-E72D297353CC}">
                <c16:uniqueId val="{00000015-CB69-4D36-A351-F24957599896}"/>
              </c:ext>
            </c:extLst>
          </c:dPt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2.4260099042132421E-4</c:v>
                </c:pt>
                <c:pt idx="1">
                  <c:v>3.1510243583459346E-3</c:v>
                </c:pt>
                <c:pt idx="2">
                  <c:v>1.84171940944702E-2</c:v>
                </c:pt>
                <c:pt idx="3">
                  <c:v>6.3789821691191795E-2</c:v>
                </c:pt>
                <c:pt idx="4">
                  <c:v>0.14499353148773764</c:v>
                </c:pt>
                <c:pt idx="5">
                  <c:v>0.22598991804295654</c:v>
                </c:pt>
                <c:pt idx="6">
                  <c:v>0.24460594577446437</c:v>
                </c:pt>
                <c:pt idx="7">
                  <c:v>0.1815466132841673</c:v>
                </c:pt>
                <c:pt idx="8">
                  <c:v>8.8425721125478016E-2</c:v>
                </c:pt>
                <c:pt idx="9">
                  <c:v>2.5522621934046009E-2</c:v>
                </c:pt>
                <c:pt idx="10">
                  <c:v>3.3150072167209177E-3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CB69-4D36-A351-F249575998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>
          <a:solidFill>
            <a:schemeClr val="bg1">
              <a:lumMod val="85000"/>
            </a:schemeClr>
          </a:solidFill>
        </a:defRPr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0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1"/>
          <p:cNvSpPr/>
          <p:nvPr/>
        </p:nvSpPr>
        <p:spPr>
          <a:xfrm>
            <a:off x="8800000" y="-1200000"/>
            <a:ext cx="5500000" cy="5500000"/>
          </a:xfrm>
          <a:prstGeom prst="ellipse">
            <a:avLst/>
          </a:prstGeom>
          <a:solidFill>
            <a:srgbClr val="1A1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Deco2"/>
          <p:cNvSpPr/>
          <p:nvPr/>
        </p:nvSpPr>
        <p:spPr>
          <a:xfrm>
            <a:off x="-800000" y="4800000"/>
            <a:ext cx="3200000" cy="3200000"/>
          </a:xfrm>
          <a:prstGeom prst="ellipse">
            <a:avLst/>
          </a:prstGeom>
          <a:solidFill>
            <a:srgbClr val="0A202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AccentBar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7B4F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Slash"/>
          <p:cNvSpPr/>
          <p:nvPr/>
        </p:nvSpPr>
        <p:spPr>
          <a:xfrm rot="3000000">
            <a:off x="9200000" y="1400000"/>
            <a:ext cx="200000" cy="4000000"/>
          </a:xfrm>
          <a:prstGeom prst="rect">
            <a:avLst/>
          </a:prstGeom>
          <a:solidFill>
            <a:srgbClr val="7B4F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Slash2"/>
          <p:cNvSpPr/>
          <p:nvPr/>
        </p:nvSpPr>
        <p:spPr>
          <a:xfrm rot="3000000">
            <a:off x="9600000" y="1200000"/>
            <a:ext cx="120000" cy="3600000"/>
          </a:xfrm>
          <a:prstGeom prst="rect">
            <a:avLst/>
          </a:prstGeom>
          <a:solidFill>
            <a:srgbClr val="E8A0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Divider"/>
          <p:cNvSpPr/>
          <p:nvPr/>
        </p:nvSpPr>
        <p:spPr>
          <a:xfrm>
            <a:off x="120000" y="3100000"/>
            <a:ext cx="8800000" cy="36000"/>
          </a:xfrm>
          <a:prstGeom prst="rect">
            <a:avLst/>
          </a:prstGeom>
          <a:solidFill>
            <a:srgbClr val="E8A0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Tag"/>
          <p:cNvSpPr txBox="1"/>
          <p:nvPr/>
        </p:nvSpPr>
        <p:spPr>
          <a:xfrm>
            <a:off x="560000" y="580000"/>
            <a:ext cx="70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E8A03C"/>
                </a:solidFill>
                <a:latin typeface="Georgia"/>
              </a:rPr>
              <a:t>Probability &amp; Statistics  ·  Applied R Analysis</a:t>
            </a:r>
          </a:p>
        </p:txBody>
      </p:sp>
      <p:sp>
        <p:nvSpPr>
          <p:cNvPr id="9" name="Title1"/>
          <p:cNvSpPr txBox="1"/>
          <p:nvPr/>
        </p:nvSpPr>
        <p:spPr>
          <a:xfrm>
            <a:off x="520000" y="1050000"/>
            <a:ext cx="9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Georgia"/>
              </a:rPr>
              <a:t>Supermarket</a:t>
            </a:r>
          </a:p>
        </p:txBody>
      </p:sp>
      <p:sp>
        <p:nvSpPr>
          <p:cNvPr id="10" name="Title2"/>
          <p:cNvSpPr txBox="1"/>
          <p:nvPr/>
        </p:nvSpPr>
        <p:spPr>
          <a:xfrm>
            <a:off x="520000" y="1900000"/>
            <a:ext cx="9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7B4FD4"/>
                </a:solidFill>
                <a:latin typeface="Georgia"/>
              </a:rPr>
              <a:t>Customer</a:t>
            </a:r>
            <a:r>
              <a:rPr sz="6000" b="1" i="0">
                <a:solidFill>
                  <a:srgbClr val="FFFFFF"/>
                </a:solidFill>
                <a:latin typeface="Georgia"/>
              </a:rPr>
              <a:t> Behavior</a:t>
            </a:r>
          </a:p>
        </p:txBody>
      </p:sp>
      <p:sp>
        <p:nvSpPr>
          <p:cNvPr id="11" name="DataBar"/>
          <p:cNvSpPr txBox="1"/>
          <p:nvPr/>
        </p:nvSpPr>
        <p:spPr>
          <a:xfrm>
            <a:off x="520000" y="3220000"/>
            <a:ext cx="8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BAA"/>
                </a:solidFill>
                <a:latin typeface="Calibri"/>
              </a:rPr>
              <a:t>SuperMarket_Analysis.csv  ·  n = 1,000 Transactions  ·  Jan–Mar 2019  ·  Group 8</a:t>
            </a:r>
          </a:p>
        </p:txBody>
      </p:sp>
      <p:sp>
        <p:nvSpPr>
          <p:cNvPr id="20" name="Card1BG"/>
          <p:cNvSpPr/>
          <p:nvPr/>
        </p:nvSpPr>
        <p:spPr>
          <a:xfrm>
            <a:off x="520000" y="3720000"/>
            <a:ext cx="3380000" cy="2600000"/>
          </a:xfrm>
          <a:prstGeom prst="rect">
            <a:avLst/>
          </a:prstGeom>
          <a:solidFill>
            <a:srgbClr val="160D30"/>
          </a:solidFill>
          <a:ln w="9000">
            <a:solidFill>
              <a:srgbClr val="7B4F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Card1Num"/>
          <p:cNvSpPr txBox="1"/>
          <p:nvPr/>
        </p:nvSpPr>
        <p:spPr>
          <a:xfrm>
            <a:off x="620000" y="3850000"/>
            <a:ext cx="32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9B6FFF"/>
                </a:solidFill>
                <a:latin typeface="Georgia"/>
              </a:rPr>
              <a:t>1K</a:t>
            </a:r>
          </a:p>
        </p:txBody>
      </p:sp>
      <p:sp>
        <p:nvSpPr>
          <p:cNvPr id="22" name="Card1Label"/>
          <p:cNvSpPr txBox="1"/>
          <p:nvPr/>
        </p:nvSpPr>
        <p:spPr>
          <a:xfrm>
            <a:off x="620000" y="5000000"/>
            <a:ext cx="3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TRANSACTIONS</a:t>
            </a:r>
          </a:p>
          <a:p>
            <a:pPr algn="ctr"/>
            <a:r>
              <a:rPr sz="1100" b="0" i="0">
                <a:solidFill>
                  <a:srgbClr val="7A8BAA"/>
                </a:solidFill>
                <a:latin typeface="Calibri"/>
              </a:rPr>
              <a:t>Dataset Size</a:t>
            </a:r>
          </a:p>
        </p:txBody>
      </p:sp>
      <p:sp>
        <p:nvSpPr>
          <p:cNvPr id="23" name="Card2BG"/>
          <p:cNvSpPr/>
          <p:nvPr/>
        </p:nvSpPr>
        <p:spPr>
          <a:xfrm>
            <a:off x="4120000" y="3720000"/>
            <a:ext cx="3380000" cy="2600000"/>
          </a:xfrm>
          <a:prstGeom prst="rect">
            <a:avLst/>
          </a:prstGeom>
          <a:solidFill>
            <a:srgbClr val="1A1200"/>
          </a:solidFill>
          <a:ln w="9000">
            <a:solidFill>
              <a:srgbClr val="E8A03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Card2Num"/>
          <p:cNvSpPr txBox="1"/>
          <p:nvPr/>
        </p:nvSpPr>
        <p:spPr>
          <a:xfrm>
            <a:off x="4220000" y="3850000"/>
            <a:ext cx="32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E8A03C"/>
                </a:solidFill>
                <a:latin typeface="Georgia"/>
              </a:rPr>
              <a:t>3</a:t>
            </a:r>
          </a:p>
        </p:txBody>
      </p:sp>
      <p:sp>
        <p:nvSpPr>
          <p:cNvPr id="25" name="Card2Label"/>
          <p:cNvSpPr txBox="1"/>
          <p:nvPr/>
        </p:nvSpPr>
        <p:spPr>
          <a:xfrm>
            <a:off x="4220000" y="5000000"/>
            <a:ext cx="3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BRANCHES</a:t>
            </a:r>
          </a:p>
          <a:p>
            <a:pPr algn="ctr"/>
            <a:r>
              <a:rPr sz="1100" b="0" i="0">
                <a:solidFill>
                  <a:srgbClr val="7A8BAA"/>
                </a:solidFill>
                <a:latin typeface="Calibri"/>
              </a:rPr>
              <a:t>Alex · Giza · Cairo</a:t>
            </a:r>
          </a:p>
        </p:txBody>
      </p:sp>
      <p:sp>
        <p:nvSpPr>
          <p:cNvPr id="26" name="Card3BG"/>
          <p:cNvSpPr/>
          <p:nvPr/>
        </p:nvSpPr>
        <p:spPr>
          <a:xfrm>
            <a:off x="7720000" y="3720000"/>
            <a:ext cx="3380000" cy="2600000"/>
          </a:xfrm>
          <a:prstGeom prst="rect">
            <a:avLst/>
          </a:prstGeom>
          <a:solidFill>
            <a:srgbClr val="001A15"/>
          </a:solidFill>
          <a:ln w="9000">
            <a:solidFill>
              <a:srgbClr val="2EB5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Card3Num"/>
          <p:cNvSpPr txBox="1"/>
          <p:nvPr/>
        </p:nvSpPr>
        <p:spPr>
          <a:xfrm>
            <a:off x="7820000" y="3850000"/>
            <a:ext cx="32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2EB59A"/>
                </a:solidFill>
                <a:latin typeface="Georgia"/>
              </a:rPr>
              <a:t>6</a:t>
            </a:r>
          </a:p>
        </p:txBody>
      </p:sp>
      <p:sp>
        <p:nvSpPr>
          <p:cNvPr id="28" name="Card3Label"/>
          <p:cNvSpPr txBox="1"/>
          <p:nvPr/>
        </p:nvSpPr>
        <p:spPr>
          <a:xfrm>
            <a:off x="7820000" y="5000000"/>
            <a:ext cx="3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PRODUCT LINES</a:t>
            </a:r>
          </a:p>
          <a:p>
            <a:pPr algn="ctr"/>
            <a:r>
              <a:rPr sz="1100" b="0" i="0">
                <a:solidFill>
                  <a:srgbClr val="7A8BAA"/>
                </a:solidFill>
                <a:latin typeface="Calibri"/>
              </a:rPr>
              <a:t>Categories Covered</a:t>
            </a:r>
          </a:p>
        </p:txBody>
      </p:sp>
      <p:sp>
        <p:nvSpPr>
          <p:cNvPr id="29" name="Footer"/>
          <p:cNvSpPr txBox="1"/>
          <p:nvPr/>
        </p:nvSpPr>
        <p:spPr>
          <a:xfrm>
            <a:off x="520000" y="6380000"/>
            <a:ext cx="11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3A4560"/>
                </a:solidFill>
                <a:latin typeface="Calibri"/>
              </a:rPr>
              <a:t>FY Computer Science  ·  Group 8  ·  Probability &amp; Statistics Project  ·  2024-25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54864"/>
          </a:xfrm>
          <a:prstGeom prst="rect">
            <a:avLst/>
          </a:prstGeom>
          <a:solidFill>
            <a:srgbClr val="2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28600" y="164592"/>
            <a:ext cx="384048" cy="384048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9202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6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7160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1. Context &amp; Problem Framing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94360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Theme: Why This Study Exists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11457432" cy="22860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5623560" cy="5440680"/>
          </a:xfrm>
          <a:prstGeom prst="rect">
            <a:avLst/>
          </a:prstGeom>
          <a:solidFill>
            <a:srgbClr val="222840"/>
          </a:solidFill>
          <a:ln w="635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143000"/>
            <a:ext cx="5715000" cy="5440680"/>
          </a:xfrm>
          <a:prstGeom prst="rect">
            <a:avLst/>
          </a:prstGeom>
          <a:solidFill>
            <a:srgbClr val="222840"/>
          </a:solidFill>
          <a:ln w="635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2984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Concept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1719072"/>
            <a:ext cx="137160" cy="137160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" y="166420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Supermarkets generate massive transactional data daily.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2194560"/>
            <a:ext cx="137160" cy="137160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213969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Businesses need statistical modeling for decision-making.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88336"/>
            <a:ext cx="5532120" cy="22860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2788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Theory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" y="3182112"/>
            <a:ext cx="137160" cy="137160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312724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Data-driven decisions reduce uncertainty.</a:t>
            </a:r>
          </a:p>
        </p:txBody>
      </p:sp>
      <p:sp>
        <p:nvSpPr>
          <p:cNvPr id="20" name="Oval 19"/>
          <p:cNvSpPr/>
          <p:nvPr/>
        </p:nvSpPr>
        <p:spPr>
          <a:xfrm>
            <a:off x="502920" y="3657600"/>
            <a:ext cx="137160" cy="137160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8952" y="360273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Probability helps model uncertain events.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133087"/>
            <a:ext cx="5532120" cy="22860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42336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What We Aim To Do</a:t>
            </a:r>
          </a:p>
        </p:txBody>
      </p:sp>
      <p:sp>
        <p:nvSpPr>
          <p:cNvPr id="24" name="Oval 23"/>
          <p:cNvSpPr/>
          <p:nvPr/>
        </p:nvSpPr>
        <p:spPr>
          <a:xfrm>
            <a:off x="502920" y="4608576"/>
            <a:ext cx="137160" cy="137160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2" y="45537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Analyze revenue distribution.</a:t>
            </a:r>
          </a:p>
        </p:txBody>
      </p:sp>
      <p:sp>
        <p:nvSpPr>
          <p:cNvPr id="26" name="Oval 25"/>
          <p:cNvSpPr/>
          <p:nvPr/>
        </p:nvSpPr>
        <p:spPr>
          <a:xfrm>
            <a:off x="502920" y="5047488"/>
            <a:ext cx="137160" cy="137160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8952" y="499262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Model customer arrivals.</a:t>
            </a:r>
          </a:p>
        </p:txBody>
      </p:sp>
      <p:sp>
        <p:nvSpPr>
          <p:cNvPr id="28" name="Oval 27"/>
          <p:cNvSpPr/>
          <p:nvPr/>
        </p:nvSpPr>
        <p:spPr>
          <a:xfrm>
            <a:off x="502920" y="5486400"/>
            <a:ext cx="137160" cy="137160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8952" y="543153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Apply probability distributions.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12984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Real-Life Relevance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82512" y="1664208"/>
            <a:ext cx="5349240" cy="749808"/>
          </a:xfrm>
          <a:prstGeom prst="rect">
            <a:avLst/>
          </a:prstGeom>
          <a:solidFill>
            <a:srgbClr val="1A1E35"/>
          </a:solidFill>
          <a:ln w="508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73952" y="1773936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60" b="0" i="0">
                <a:solidFill>
                  <a:srgbClr val="FFFFFF"/>
                </a:solidFill>
                <a:latin typeface="Calibri"/>
              </a:rPr>
              <a:t>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04992" y="175564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Staffing decisions based on arrival rates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82512" y="2578608"/>
            <a:ext cx="5349240" cy="749808"/>
          </a:xfrm>
          <a:prstGeom prst="rect">
            <a:avLst/>
          </a:prstGeom>
          <a:solidFill>
            <a:srgbClr val="1A1E35"/>
          </a:solidFill>
          <a:ln w="508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73952" y="2688336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60" b="0" i="0">
                <a:solidFill>
                  <a:srgbClr val="FFFFFF"/>
                </a:solidFill>
                <a:latin typeface="Calibri"/>
              </a:rPr>
              <a:t>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267004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Inventory management using demand models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82512" y="3493008"/>
            <a:ext cx="5349240" cy="749808"/>
          </a:xfrm>
          <a:prstGeom prst="rect">
            <a:avLst/>
          </a:prstGeom>
          <a:solidFill>
            <a:srgbClr val="1A1E35"/>
          </a:solidFill>
          <a:ln w="508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73952" y="3602736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60" b="0" i="0">
                <a:solidFill>
                  <a:srgbClr val="FFFFFF"/>
                </a:solidFill>
                <a:latin typeface="Calibri"/>
              </a:rPr>
              <a:t>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358444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Customer targeting via Bayes theorem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82512" y="4407408"/>
            <a:ext cx="5349240" cy="749808"/>
          </a:xfrm>
          <a:prstGeom prst="rect">
            <a:avLst/>
          </a:prstGeom>
          <a:solidFill>
            <a:srgbClr val="1A1E35"/>
          </a:solidFill>
          <a:ln w="508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73952" y="4517136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6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5160" y="449884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Revenue forecasting with Normal distribution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5376672"/>
            <a:ext cx="5715000" cy="22860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82512" y="54681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R Code (briefly)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91072" y="5779008"/>
            <a:ext cx="5440680" cy="685800"/>
          </a:xfrm>
          <a:prstGeom prst="rect">
            <a:avLst/>
          </a:prstGeom>
          <a:solidFill>
            <a:srgbClr val="121626"/>
          </a:solidFill>
          <a:ln w="635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400800" y="5888736"/>
            <a:ext cx="411480" cy="256032"/>
          </a:xfrm>
          <a:prstGeom prst="rect">
            <a:avLst/>
          </a:prstGeom>
          <a:solidFill>
            <a:srgbClr val="2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19088" y="5888736"/>
            <a:ext cx="3840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C8BA8"/>
                </a:solidFill>
                <a:latin typeface="Calibri"/>
              </a:rPr>
              <a:t>&lt;&gt; 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28232" y="6236208"/>
            <a:ext cx="5166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82AAFF"/>
                </a:solidFill>
                <a:latin typeface="Courier New"/>
              </a:rPr>
              <a:t>df</a:t>
            </a:r>
            <a:r>
              <a:rPr sz="1200" b="0" i="0" dirty="0">
                <a:solidFill>
                  <a:srgbClr val="82AAFF"/>
                </a:solidFill>
                <a:latin typeface="Courier New"/>
              </a:rPr>
              <a:t> &lt;- read.csv(</a:t>
            </a:r>
            <a:r>
              <a:rPr lang="en-IN" sz="1200" dirty="0">
                <a:solidFill>
                  <a:srgbClr val="82AAFF"/>
                </a:solidFill>
                <a:latin typeface="Courier New"/>
              </a:rPr>
              <a:t>“</a:t>
            </a:r>
            <a:r>
              <a:rPr lang="en-IN" sz="1200" dirty="0" err="1">
                <a:solidFill>
                  <a:srgbClr val="82AAFF"/>
                </a:solidFill>
                <a:latin typeface="Courier New"/>
              </a:rPr>
              <a:t>SuperMarket</a:t>
            </a:r>
            <a:r>
              <a:rPr lang="en-IN" sz="1200">
                <a:solidFill>
                  <a:srgbClr val="82AAFF"/>
                </a:solidFill>
                <a:latin typeface="Courier New"/>
              </a:rPr>
              <a:t> Analysis.csv”</a:t>
            </a:r>
            <a:r>
              <a:rPr sz="1200" b="0" i="0">
                <a:solidFill>
                  <a:srgbClr val="82AAFF"/>
                </a:solidFill>
                <a:latin typeface="Courier New"/>
              </a:rPr>
              <a:t>)</a:t>
            </a:r>
            <a:endParaRPr sz="1200" b="0" i="0" dirty="0">
              <a:solidFill>
                <a:srgbClr val="82AAFF"/>
              </a:solidFill>
              <a:latin typeface="Courier New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54864"/>
          </a:xfrm>
          <a:prstGeom prst="rect">
            <a:avLst/>
          </a:prstGeom>
          <a:solidFill>
            <a:srgbClr val="2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28600" y="164592"/>
            <a:ext cx="384048" cy="384048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9202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6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7160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2. Data Understanding &amp; R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94360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Theme: What Type of Data We Have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11457432" cy="22860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7132320" cy="5440680"/>
          </a:xfrm>
          <a:prstGeom prst="rect">
            <a:avLst/>
          </a:prstGeom>
          <a:solidFill>
            <a:srgbClr val="222840"/>
          </a:solidFill>
          <a:ln w="635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80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Concept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1682496"/>
            <a:ext cx="137160" cy="137160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6276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Data frame structure in R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2157984"/>
            <a:ext cx="137160" cy="137160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2" y="21031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Numerical vs categorical variables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624328"/>
            <a:ext cx="7086600" cy="22860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27157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Mathematical View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3118104"/>
            <a:ext cx="137160" cy="137160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" y="3063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Sales  →  continuous variable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3575304"/>
            <a:ext cx="137160" cy="137160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3520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Product line  →  categorical variable</a:t>
            </a:r>
          </a:p>
        </p:txBody>
      </p:sp>
      <p:sp>
        <p:nvSpPr>
          <p:cNvPr id="21" name="Oval 20"/>
          <p:cNvSpPr/>
          <p:nvPr/>
        </p:nvSpPr>
        <p:spPr>
          <a:xfrm>
            <a:off x="502920" y="4032503"/>
            <a:ext cx="137160" cy="137160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" y="397763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Customer type  →  binary (Member / Normal)</a:t>
            </a:r>
          </a:p>
        </p:txBody>
      </p:sp>
      <p:sp>
        <p:nvSpPr>
          <p:cNvPr id="23" name="Oval 22"/>
          <p:cNvSpPr/>
          <p:nvPr/>
        </p:nvSpPr>
        <p:spPr>
          <a:xfrm>
            <a:off x="502920" y="4489703"/>
            <a:ext cx="137160" cy="137160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8952" y="4434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Time  →  discrete (extracted hour)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956048"/>
            <a:ext cx="7086600" cy="22860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50474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Code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376672"/>
            <a:ext cx="6995160" cy="1069848"/>
          </a:xfrm>
          <a:prstGeom prst="rect">
            <a:avLst/>
          </a:prstGeom>
          <a:solidFill>
            <a:srgbClr val="121626"/>
          </a:solidFill>
          <a:ln w="635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75488" y="5486400"/>
            <a:ext cx="411480" cy="256032"/>
          </a:xfrm>
          <a:prstGeom prst="rect">
            <a:avLst/>
          </a:prstGeom>
          <a:solidFill>
            <a:srgbClr val="2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3776" y="5424678"/>
            <a:ext cx="3840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C8BA8"/>
                </a:solidFill>
                <a:latin typeface="Calibri"/>
              </a:rPr>
              <a:t>&lt;&gt; 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833872"/>
            <a:ext cx="672084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2AAFF"/>
                </a:solidFill>
                <a:latin typeface="Courier New"/>
              </a:rPr>
              <a:t>str(df)
head(df)   # View first 6 rows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62672" y="1143000"/>
            <a:ext cx="4343400" cy="1170432"/>
          </a:xfrm>
          <a:prstGeom prst="rect">
            <a:avLst/>
          </a:prstGeom>
          <a:solidFill>
            <a:srgbClr val="1A1E35"/>
          </a:solidFill>
          <a:ln w="508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662672" y="1143000"/>
            <a:ext cx="82296" cy="1170432"/>
          </a:xfrm>
          <a:prstGeom prst="rect">
            <a:avLst/>
          </a:prstGeom>
          <a:solidFill>
            <a:srgbClr val="E8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918704" y="1234440"/>
            <a:ext cx="2286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A5BB"/>
                </a:solidFill>
                <a:latin typeface="Calibri"/>
              </a:rPr>
              <a:t>Total Transactions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18704" y="170992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60" b="1" i="0">
                <a:solidFill>
                  <a:srgbClr val="E8A03C"/>
                </a:solidFill>
                <a:latin typeface="Georgia"/>
              </a:rPr>
              <a:t>1,000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62672" y="2468880"/>
            <a:ext cx="4343400" cy="1170432"/>
          </a:xfrm>
          <a:prstGeom prst="rect">
            <a:avLst/>
          </a:prstGeom>
          <a:solidFill>
            <a:srgbClr val="1A1E35"/>
          </a:solidFill>
          <a:ln w="508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662672" y="2468880"/>
            <a:ext cx="82296" cy="1170432"/>
          </a:xfrm>
          <a:prstGeom prst="rect">
            <a:avLst/>
          </a:prstGeom>
          <a:solidFill>
            <a:srgbClr val="2EB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918704" y="2560320"/>
            <a:ext cx="2286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A5BB"/>
                </a:solidFill>
                <a:latin typeface="Calibri"/>
              </a:rPr>
              <a:t>Columns / Variables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18704" y="303580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60" b="1" i="0">
                <a:solidFill>
                  <a:srgbClr val="2EB59A"/>
                </a:solidFill>
                <a:latin typeface="Georgia"/>
              </a:rPr>
              <a:t>17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62672" y="3794760"/>
            <a:ext cx="4343400" cy="1170432"/>
          </a:xfrm>
          <a:prstGeom prst="rect">
            <a:avLst/>
          </a:prstGeom>
          <a:solidFill>
            <a:srgbClr val="1A1E35"/>
          </a:solidFill>
          <a:ln w="508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662672" y="3794760"/>
            <a:ext cx="82296" cy="1170432"/>
          </a:xfrm>
          <a:prstGeom prst="rect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918704" y="3886200"/>
            <a:ext cx="2286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A5BB"/>
                </a:solidFill>
                <a:latin typeface="Calibri"/>
              </a:rPr>
              <a:t>Branches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18704" y="436168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60" b="1" i="0">
                <a:solidFill>
                  <a:srgbClr val="8B6BD4"/>
                </a:solidFill>
                <a:latin typeface="Georgia"/>
              </a:rPr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62672" y="5120640"/>
            <a:ext cx="4343400" cy="1170432"/>
          </a:xfrm>
          <a:prstGeom prst="rect">
            <a:avLst/>
          </a:prstGeom>
          <a:solidFill>
            <a:srgbClr val="1A1E35"/>
          </a:solidFill>
          <a:ln w="508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662672" y="5120640"/>
            <a:ext cx="82296" cy="1170432"/>
          </a:xfrm>
          <a:prstGeom prst="rect">
            <a:avLst/>
          </a:prstGeom>
          <a:solidFill>
            <a:srgbClr val="D6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918704" y="5212079"/>
            <a:ext cx="2286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A5BB"/>
                </a:solidFill>
                <a:latin typeface="Calibri"/>
              </a:rPr>
              <a:t>Product Lines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18704" y="568756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60" b="1" i="0">
                <a:solidFill>
                  <a:srgbClr val="D65F5F"/>
                </a:solidFill>
                <a:latin typeface="Georgia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62672" y="6446520"/>
            <a:ext cx="4343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40" b="0" i="1">
                <a:solidFill>
                  <a:srgbClr val="9AA5BB"/>
                </a:solidFill>
                <a:latin typeface="Calibri"/>
              </a:rPr>
              <a:t>Interpretation: Helps identify which
statistical tools are appropriate.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54864"/>
          </a:xfrm>
          <a:prstGeom prst="rect">
            <a:avLst/>
          </a:prstGeom>
          <a:solidFill>
            <a:srgbClr val="2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28600" y="164592"/>
            <a:ext cx="384048" cy="384048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9202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6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7160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3. Measures of Central Tendency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9640" y="594360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Theme: Location in Sales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11457432" cy="22860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2788920" cy="1463040"/>
          </a:xfrm>
          <a:prstGeom prst="rect">
            <a:avLst/>
          </a:prstGeom>
          <a:solidFill>
            <a:srgbClr val="222840"/>
          </a:solidFill>
          <a:ln w="635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2788920" cy="54864"/>
          </a:xfrm>
          <a:prstGeom prst="rect">
            <a:avLst/>
          </a:prstGeom>
          <a:solidFill>
            <a:srgbClr val="E8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79" y="126187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A5BB"/>
                </a:solidFill>
                <a:latin typeface="Calibri"/>
              </a:rPr>
              <a:t>Mean Sales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572768"/>
            <a:ext cx="2788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8A03C"/>
                </a:solidFill>
                <a:latin typeface="Georgia"/>
              </a:rPr>
              <a:t>₹322.97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267712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" b="0" i="1">
                <a:solidFill>
                  <a:srgbClr val="9AA5BB"/>
                </a:solidFill>
                <a:latin typeface="Calibri"/>
              </a:rPr>
              <a:t>x̄ = Σxᵢ / 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143000"/>
            <a:ext cx="2788920" cy="1463040"/>
          </a:xfrm>
          <a:prstGeom prst="rect">
            <a:avLst/>
          </a:prstGeom>
          <a:solidFill>
            <a:srgbClr val="222840"/>
          </a:solidFill>
          <a:ln w="635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46120" y="1143000"/>
            <a:ext cx="2788920" cy="54864"/>
          </a:xfrm>
          <a:prstGeom prst="rect">
            <a:avLst/>
          </a:prstGeom>
          <a:solidFill>
            <a:srgbClr val="2EB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83279" y="126187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A5BB"/>
                </a:solidFill>
                <a:latin typeface="Calibri"/>
              </a:rPr>
              <a:t>Median Sales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1572768"/>
            <a:ext cx="2788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EB59A"/>
                </a:solidFill>
                <a:latin typeface="Georgia"/>
              </a:rPr>
              <a:t>₹254.02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2267712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" b="0" i="1">
                <a:solidFill>
                  <a:srgbClr val="9AA5BB"/>
                </a:solidFill>
                <a:latin typeface="Calibri"/>
              </a:rPr>
              <a:t>Middle value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143000"/>
            <a:ext cx="2788920" cy="1463040"/>
          </a:xfrm>
          <a:prstGeom prst="rect">
            <a:avLst/>
          </a:prstGeom>
          <a:solidFill>
            <a:srgbClr val="222840"/>
          </a:solidFill>
          <a:ln w="635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1143000"/>
            <a:ext cx="2788920" cy="54864"/>
          </a:xfrm>
          <a:prstGeom prst="rect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126187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A5BB"/>
                </a:solidFill>
                <a:latin typeface="Calibri"/>
              </a:rPr>
              <a:t>Std. Deviation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572768"/>
            <a:ext cx="2788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8B6BD4"/>
                </a:solidFill>
                <a:latin typeface="Georgia"/>
              </a:rPr>
              <a:t>₹245.89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267712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" b="0" i="1">
                <a:solidFill>
                  <a:srgbClr val="9AA5BB"/>
                </a:solidFill>
                <a:latin typeface="Calibri"/>
              </a:rPr>
              <a:t>σ = √Variance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89720" y="1143000"/>
            <a:ext cx="2788920" cy="1463040"/>
          </a:xfrm>
          <a:prstGeom prst="rect">
            <a:avLst/>
          </a:prstGeom>
          <a:solidFill>
            <a:srgbClr val="222840"/>
          </a:solidFill>
          <a:ln w="635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189720" y="1143000"/>
            <a:ext cx="2788920" cy="54864"/>
          </a:xfrm>
          <a:prstGeom prst="rect">
            <a:avLst/>
          </a:prstGeom>
          <a:solidFill>
            <a:srgbClr val="D6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26880" y="126187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A5BB"/>
                </a:solidFill>
                <a:latin typeface="Calibri"/>
              </a:rPr>
              <a:t>Member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1572768"/>
            <a:ext cx="2788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D65F5F"/>
                </a:solidFill>
                <a:latin typeface="Georgia"/>
              </a:rPr>
              <a:t>56.5%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2267712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" b="0" i="1">
                <a:solidFill>
                  <a:srgbClr val="9AA5BB"/>
                </a:solidFill>
                <a:latin typeface="Calibri"/>
              </a:rPr>
              <a:t>565 of 1,000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880360"/>
            <a:ext cx="5669280" cy="3703320"/>
          </a:xfrm>
          <a:prstGeom prst="rect">
            <a:avLst/>
          </a:prstGeom>
          <a:solidFill>
            <a:srgbClr val="222840"/>
          </a:solidFill>
          <a:ln w="635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36208" y="2880360"/>
            <a:ext cx="5669280" cy="3703320"/>
          </a:xfrm>
          <a:prstGeom prst="rect">
            <a:avLst/>
          </a:prstGeom>
          <a:solidFill>
            <a:srgbClr val="222840"/>
          </a:solidFill>
          <a:ln w="635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5488" y="3017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R Code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337560"/>
            <a:ext cx="5532120" cy="1828800"/>
          </a:xfrm>
          <a:prstGeom prst="rect">
            <a:avLst/>
          </a:prstGeom>
          <a:solidFill>
            <a:srgbClr val="121626"/>
          </a:solidFill>
          <a:ln w="635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75488" y="3447288"/>
            <a:ext cx="411480" cy="256032"/>
          </a:xfrm>
          <a:prstGeom prst="rect">
            <a:avLst/>
          </a:prstGeom>
          <a:solidFill>
            <a:srgbClr val="2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93776" y="3447288"/>
            <a:ext cx="3840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C8BA8"/>
                </a:solidFill>
                <a:latin typeface="Calibri"/>
              </a:rPr>
              <a:t>&lt;&gt; 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3794760"/>
            <a:ext cx="5257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2AAFF"/>
                </a:solidFill>
                <a:latin typeface="Courier New"/>
              </a:rPr>
              <a:t>mean_sales   &lt;- mean(df$Sales, na.rm=TRUE)
median_sales &lt;- median(df$Sales, na.rm=TRUE)
variance_sales &lt;- var(df$Sales)
sd_sales &lt;- sd(df$Sales)
cat('Mean:', mean_sales)   # 322.97
cat('Median:', median_sales) # 254.02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230368"/>
            <a:ext cx="5577840" cy="22860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5488" y="53218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Interpretation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" y="5623560"/>
            <a:ext cx="5349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0" i="1">
                <a:solidFill>
                  <a:srgbClr val="E8E4DC"/>
                </a:solidFill>
                <a:latin typeface="Calibri"/>
              </a:rPr>
              <a:t>Mean &gt; Median confirms right-skewed distribution — a few large purchases pull the average up.</a:t>
            </a:r>
          </a:p>
        </p:txBody>
      </p:sp>
      <p:graphicFrame>
        <p:nvGraphicFramePr>
          <p:cNvPr id="39" name="Chart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946712"/>
              </p:ext>
            </p:extLst>
          </p:nvPr>
        </p:nvGraphicFramePr>
        <p:xfrm>
          <a:off x="6309360" y="2880360"/>
          <a:ext cx="557784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6355080" y="61996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Home &amp; Lifestyle leads at ₹336.64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54864"/>
          </a:xfrm>
          <a:prstGeom prst="rect">
            <a:avLst/>
          </a:prstGeom>
          <a:solidFill>
            <a:srgbClr val="2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28600" y="164592"/>
            <a:ext cx="384048" cy="384048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9202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6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7160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4. Measures of Dispersion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94360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Theme: Variability in Sales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11457432" cy="22860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5623560" cy="5440680"/>
          </a:xfrm>
          <a:prstGeom prst="rect">
            <a:avLst/>
          </a:prstGeom>
          <a:solidFill>
            <a:srgbClr val="222840"/>
          </a:solidFill>
          <a:ln w="635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80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Mathematics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276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40" b="0" i="1">
                <a:solidFill>
                  <a:srgbClr val="E8A03C"/>
                </a:solidFill>
                <a:latin typeface="Georgia"/>
              </a:rPr>
              <a:t>Variance:  σ² = Σ(xᵢ - x̄)² / n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2084832"/>
            <a:ext cx="137160" cy="137160"/>
          </a:xfrm>
          <a:prstGeom prst="ellipse">
            <a:avLst/>
          </a:prstGeom>
          <a:solidFill>
            <a:srgbClr val="E8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" y="20299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SD = √Variance  =  ₹245.89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2587752"/>
            <a:ext cx="137160" cy="137160"/>
          </a:xfrm>
          <a:prstGeom prst="ellipse">
            <a:avLst/>
          </a:prstGeom>
          <a:solidFill>
            <a:srgbClr val="E8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253288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Range = Max – Min  =  ₹993.70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3090672"/>
            <a:ext cx="137160" cy="137160"/>
          </a:xfrm>
          <a:prstGeom prst="ellipse">
            <a:avLst/>
          </a:prstGeom>
          <a:solidFill>
            <a:srgbClr val="E8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303580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IQR = Q3 – Q1  (middle 50% spread)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" y="3593592"/>
            <a:ext cx="137160" cy="137160"/>
          </a:xfrm>
          <a:prstGeom prst="ellipse">
            <a:avLst/>
          </a:prstGeom>
          <a:solidFill>
            <a:srgbClr val="E8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353872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Q1 = ₹124.42  |  Q3 = ₹471.35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977639"/>
            <a:ext cx="5532120" cy="22860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4069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Code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389120"/>
            <a:ext cx="5440680" cy="1417320"/>
          </a:xfrm>
          <a:prstGeom prst="rect">
            <a:avLst/>
          </a:prstGeom>
          <a:solidFill>
            <a:srgbClr val="121626"/>
          </a:solidFill>
          <a:ln w="635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75488" y="4498848"/>
            <a:ext cx="411480" cy="256032"/>
          </a:xfrm>
          <a:prstGeom prst="rect">
            <a:avLst/>
          </a:prstGeom>
          <a:solidFill>
            <a:srgbClr val="2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3776" y="4498848"/>
            <a:ext cx="3840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C8BA8"/>
                </a:solidFill>
                <a:latin typeface="Calibri"/>
              </a:rPr>
              <a:t>&lt;&gt; 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846320"/>
            <a:ext cx="5166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2AAFF"/>
                </a:solidFill>
                <a:latin typeface="Courier New"/>
              </a:rPr>
              <a:t>sd(df$Sales)
range(df$Sales)
quantile(df$Sales)
IQR(df$Sales)
summary(df$Sales)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1143000"/>
            <a:ext cx="5715000" cy="5440680"/>
          </a:xfrm>
          <a:prstGeom prst="rect">
            <a:avLst/>
          </a:prstGeom>
          <a:solidFill>
            <a:srgbClr val="222840"/>
          </a:solidFill>
          <a:ln w="635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82512" y="1280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Output Meaning</a:t>
            </a:r>
          </a:p>
        </p:txBody>
      </p:sp>
      <p:sp>
        <p:nvSpPr>
          <p:cNvPr id="28" name="Oval 27"/>
          <p:cNvSpPr/>
          <p:nvPr/>
        </p:nvSpPr>
        <p:spPr>
          <a:xfrm>
            <a:off x="6382512" y="1682496"/>
            <a:ext cx="137160" cy="137160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38544" y="16276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SD = ₹245.89  →  wide spending spread</a:t>
            </a:r>
          </a:p>
        </p:txBody>
      </p:sp>
      <p:sp>
        <p:nvSpPr>
          <p:cNvPr id="30" name="Oval 29"/>
          <p:cNvSpPr/>
          <p:nvPr/>
        </p:nvSpPr>
        <p:spPr>
          <a:xfrm>
            <a:off x="6382512" y="2157984"/>
            <a:ext cx="137160" cy="137160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38544" y="21031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IQR shows spread of middle 50% customers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2633472"/>
            <a:ext cx="5715000" cy="22860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82512" y="27249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Interpretation</a:t>
            </a:r>
          </a:p>
        </p:txBody>
      </p:sp>
      <p:sp>
        <p:nvSpPr>
          <p:cNvPr id="34" name="Oval 33"/>
          <p:cNvSpPr/>
          <p:nvPr/>
        </p:nvSpPr>
        <p:spPr>
          <a:xfrm>
            <a:off x="6382512" y="3118104"/>
            <a:ext cx="137160" cy="137160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38544" y="3063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Large SD  →  inconsistent revenue patterns</a:t>
            </a:r>
          </a:p>
        </p:txBody>
      </p:sp>
      <p:sp>
        <p:nvSpPr>
          <p:cNvPr id="36" name="Oval 35"/>
          <p:cNvSpPr/>
          <p:nvPr/>
        </p:nvSpPr>
        <p:spPr>
          <a:xfrm>
            <a:off x="6382512" y="3593592"/>
            <a:ext cx="137160" cy="137160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38544" y="353872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Large IQR  →  wide middle spending variation</a:t>
            </a:r>
          </a:p>
        </p:txBody>
      </p:sp>
      <p:sp>
        <p:nvSpPr>
          <p:cNvPr id="38" name="Oval 37"/>
          <p:cNvSpPr/>
          <p:nvPr/>
        </p:nvSpPr>
        <p:spPr>
          <a:xfrm>
            <a:off x="6382512" y="4069080"/>
            <a:ext cx="137160" cy="137160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38544" y="401421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High variance = unpredictable customer spend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4553712"/>
            <a:ext cx="5715000" cy="22860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82512" y="46451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Real-life</a:t>
            </a:r>
          </a:p>
        </p:txBody>
      </p:sp>
      <p:sp>
        <p:nvSpPr>
          <p:cNvPr id="42" name="Oval 41"/>
          <p:cNvSpPr/>
          <p:nvPr/>
        </p:nvSpPr>
        <p:spPr>
          <a:xfrm>
            <a:off x="6382512" y="5038344"/>
            <a:ext cx="137160" cy="137160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638544" y="4983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Risk estimation in revenue forecasting</a:t>
            </a:r>
          </a:p>
        </p:txBody>
      </p:sp>
      <p:sp>
        <p:nvSpPr>
          <p:cNvPr id="44" name="Oval 43"/>
          <p:cNvSpPr/>
          <p:nvPr/>
        </p:nvSpPr>
        <p:spPr>
          <a:xfrm>
            <a:off x="6382512" y="5513832"/>
            <a:ext cx="137160" cy="137160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38544" y="54589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Pricing strategy and discount modeling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5806440"/>
            <a:ext cx="2651760" cy="658368"/>
          </a:xfrm>
          <a:prstGeom prst="rect">
            <a:avLst/>
          </a:prstGeom>
          <a:solidFill>
            <a:srgbClr val="1A1E35"/>
          </a:solidFill>
          <a:ln w="508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46520" y="58338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9AA5BB"/>
                </a:solidFill>
                <a:latin typeface="Calibri"/>
              </a:rPr>
              <a:t>Variance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610819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60" b="1" i="0">
                <a:solidFill>
                  <a:srgbClr val="E8A03C"/>
                </a:solidFill>
                <a:latin typeface="Calibri"/>
              </a:rPr>
              <a:t>₹60,460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0" y="5806440"/>
            <a:ext cx="2651760" cy="658368"/>
          </a:xfrm>
          <a:prstGeom prst="rect">
            <a:avLst/>
          </a:prstGeom>
          <a:solidFill>
            <a:srgbClr val="1A1E35"/>
          </a:solidFill>
          <a:ln w="508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281160" y="58338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9AA5BB"/>
                </a:solidFill>
                <a:latin typeface="Calibri"/>
              </a:rPr>
              <a:t>SD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81160" y="610819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60" b="1" i="0">
                <a:solidFill>
                  <a:srgbClr val="2EB59A"/>
                </a:solidFill>
                <a:latin typeface="Calibri"/>
              </a:rPr>
              <a:t>₹245.89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54864"/>
          </a:xfrm>
          <a:prstGeom prst="rect">
            <a:avLst/>
          </a:prstGeom>
          <a:solidFill>
            <a:srgbClr val="2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28600" y="164592"/>
            <a:ext cx="384048" cy="384048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9202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6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7160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5. Frequency Tables &amp; Bar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94360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Theme: Categorical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11457432" cy="22860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5303520" cy="5440680"/>
          </a:xfrm>
          <a:prstGeom prst="rect">
            <a:avLst/>
          </a:prstGeom>
          <a:solidFill>
            <a:srgbClr val="222840"/>
          </a:solidFill>
          <a:ln w="635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" y="1280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Concept</a:t>
            </a:r>
          </a:p>
        </p:txBody>
      </p:sp>
      <p:sp>
        <p:nvSpPr>
          <p:cNvPr id="11" name="Oval 10"/>
          <p:cNvSpPr/>
          <p:nvPr/>
        </p:nvSpPr>
        <p:spPr>
          <a:xfrm>
            <a:off x="475488" y="1682496"/>
            <a:ext cx="137160" cy="137160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16276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Frequency distribution of product lines.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176272"/>
            <a:ext cx="5212080" cy="22860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22677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Mathematics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260604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1">
                <a:solidFill>
                  <a:srgbClr val="E8A03C"/>
                </a:solidFill>
                <a:latin typeface="Calibri"/>
              </a:rPr>
              <a:t>Relative frequency = count / total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035808"/>
            <a:ext cx="5212080" cy="22860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" y="31272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Code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3456432"/>
            <a:ext cx="5138928" cy="932688"/>
          </a:xfrm>
          <a:prstGeom prst="rect">
            <a:avLst/>
          </a:prstGeom>
          <a:solidFill>
            <a:srgbClr val="121626"/>
          </a:solidFill>
          <a:ln w="635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566160"/>
            <a:ext cx="411480" cy="256032"/>
          </a:xfrm>
          <a:prstGeom prst="rect">
            <a:avLst/>
          </a:prstGeom>
          <a:solidFill>
            <a:srgbClr val="2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" y="3566160"/>
            <a:ext cx="3840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C8BA8"/>
                </a:solidFill>
                <a:latin typeface="Calibri"/>
              </a:rPr>
              <a:t>&lt;&gt; 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" y="3913631"/>
            <a:ext cx="48646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2AAFF"/>
                </a:solidFill>
                <a:latin typeface="Courier New"/>
              </a:rPr>
              <a:t>table(df$Product.line)
barplot(...)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462272"/>
            <a:ext cx="5212080" cy="22860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" y="45537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Output Meaning</a:t>
            </a:r>
          </a:p>
        </p:txBody>
      </p:sp>
      <p:sp>
        <p:nvSpPr>
          <p:cNvPr id="24" name="Oval 23"/>
          <p:cNvSpPr/>
          <p:nvPr/>
        </p:nvSpPr>
        <p:spPr>
          <a:xfrm>
            <a:off x="475488" y="4946903"/>
            <a:ext cx="137160" cy="137160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892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Identifies most sold product category.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376672"/>
            <a:ext cx="5212080" cy="22860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5488" y="54681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Real-life</a:t>
            </a:r>
          </a:p>
        </p:txBody>
      </p:sp>
      <p:sp>
        <p:nvSpPr>
          <p:cNvPr id="28" name="Oval 27"/>
          <p:cNvSpPr/>
          <p:nvPr/>
        </p:nvSpPr>
        <p:spPr>
          <a:xfrm>
            <a:off x="475488" y="5861303"/>
            <a:ext cx="137160" cy="137160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5806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Inventory optimization and restocking.</a:t>
            </a:r>
          </a:p>
        </p:txBody>
      </p:sp>
      <p:graphicFrame>
        <p:nvGraphicFramePr>
          <p:cNvPr id="30" name="Chart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854821"/>
              </p:ext>
            </p:extLst>
          </p:nvPr>
        </p:nvGraphicFramePr>
        <p:xfrm>
          <a:off x="5833872" y="1143000"/>
          <a:ext cx="6126480" cy="5440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40" b="1" i="0">
                <a:solidFill>
                  <a:srgbClr val="FFFFFF"/>
                </a:solidFill>
                <a:latin typeface="Georgia"/>
              </a:rPr>
              <a:t>Product Line — Frequency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57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0" i="1">
                <a:solidFill>
                  <a:srgbClr val="9AA5BB"/>
                </a:solidFill>
                <a:latin typeface="Calibri"/>
              </a:rPr>
              <a:t>table(df$Product.line)  →  sorted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57432" cy="22860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115568"/>
            <a:ext cx="11475720" cy="475488"/>
          </a:xfrm>
          <a:prstGeom prst="rect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116128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FFFFFF"/>
                </a:solidFill>
                <a:latin typeface="Calibri"/>
              </a:rPr>
              <a:t>Product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38928" y="116128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FFFFFF"/>
                </a:solidFill>
                <a:latin typeface="Calibri"/>
              </a:rPr>
              <a:t>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2048" y="116128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FFFFFF"/>
                </a:solidFill>
                <a:latin typeface="Calibri"/>
              </a:rPr>
              <a:t>Rel. Freq (%)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36607" y="116128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FFFFFF"/>
                </a:solidFill>
                <a:latin typeface="Calibri"/>
              </a:rPr>
              <a:t>Cum. Freq (%)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27632"/>
            <a:ext cx="11475720" cy="530352"/>
          </a:xfrm>
          <a:prstGeom prst="rect">
            <a:avLst/>
          </a:prstGeom>
          <a:solidFill>
            <a:srgbClr val="2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627632"/>
            <a:ext cx="4191856" cy="530352"/>
          </a:xfrm>
          <a:prstGeom prst="rect">
            <a:avLst/>
          </a:prstGeom>
          <a:solidFill>
            <a:srgbClr val="2E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167335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Electronic accessories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8928" y="167335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60" b="0" i="0">
                <a:solidFill>
                  <a:srgbClr val="E8E4DC"/>
                </a:solidFill>
                <a:latin typeface="Calibri"/>
              </a:rPr>
              <a:t>170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42048" y="167335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20" b="0" i="0">
                <a:solidFill>
                  <a:srgbClr val="9AA5BB"/>
                </a:solidFill>
                <a:latin typeface="Calibri"/>
              </a:rPr>
              <a:t>17.0%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36608" y="167335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20" b="0" i="0">
                <a:solidFill>
                  <a:srgbClr val="9AA5BB"/>
                </a:solidFill>
                <a:latin typeface="Calibri"/>
              </a:rPr>
              <a:t>17.0%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194560"/>
            <a:ext cx="11475720" cy="530352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2194560"/>
            <a:ext cx="4389120" cy="530352"/>
          </a:xfrm>
          <a:prstGeom prst="rect">
            <a:avLst/>
          </a:prstGeom>
          <a:solidFill>
            <a:srgbClr val="2E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224028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 i="0">
                <a:solidFill>
                  <a:srgbClr val="E8A03C"/>
                </a:solidFill>
                <a:latin typeface="Calibri"/>
              </a:rPr>
              <a:t>Fashion accessories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38928" y="224028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60" b="1" i="0">
                <a:solidFill>
                  <a:srgbClr val="E8A03C"/>
                </a:solidFill>
                <a:latin typeface="Calibri"/>
              </a:rPr>
              <a:t>178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42048" y="224028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20" b="0" i="0">
                <a:solidFill>
                  <a:srgbClr val="9AA5BB"/>
                </a:solidFill>
                <a:latin typeface="Calibri"/>
              </a:rPr>
              <a:t>17.8%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36608" y="224028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20" b="0" i="0">
                <a:solidFill>
                  <a:srgbClr val="9AA5BB"/>
                </a:solidFill>
                <a:latin typeface="Calibri"/>
              </a:rPr>
              <a:t>34.8%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761488"/>
            <a:ext cx="11475720" cy="530352"/>
          </a:xfrm>
          <a:prstGeom prst="rect">
            <a:avLst/>
          </a:prstGeom>
          <a:solidFill>
            <a:srgbClr val="2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2761488"/>
            <a:ext cx="4290488" cy="530352"/>
          </a:xfrm>
          <a:prstGeom prst="rect">
            <a:avLst/>
          </a:prstGeom>
          <a:solidFill>
            <a:srgbClr val="2E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280720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Food and beverages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38928" y="280720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60" b="0" i="0">
                <a:solidFill>
                  <a:srgbClr val="E8E4DC"/>
                </a:solidFill>
                <a:latin typeface="Calibri"/>
              </a:rPr>
              <a:t>174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42048" y="280720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20" b="0" i="0">
                <a:solidFill>
                  <a:srgbClr val="9AA5BB"/>
                </a:solidFill>
                <a:latin typeface="Calibri"/>
              </a:rPr>
              <a:t>17.4%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36608" y="280720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20" b="0" i="0">
                <a:solidFill>
                  <a:srgbClr val="9AA5BB"/>
                </a:solidFill>
                <a:latin typeface="Calibri"/>
              </a:rPr>
              <a:t>52.2%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328415"/>
            <a:ext cx="11475720" cy="530352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65760" y="3328415"/>
            <a:ext cx="3748012" cy="530352"/>
          </a:xfrm>
          <a:prstGeom prst="rect">
            <a:avLst/>
          </a:prstGeom>
          <a:solidFill>
            <a:srgbClr val="2E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3374136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Health and beauty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38928" y="337413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60" b="0" i="0">
                <a:solidFill>
                  <a:srgbClr val="E8E4DC"/>
                </a:solidFill>
                <a:latin typeface="Calibri"/>
              </a:rPr>
              <a:t>152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42048" y="337413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20" b="0" i="0">
                <a:solidFill>
                  <a:srgbClr val="9AA5BB"/>
                </a:solidFill>
                <a:latin typeface="Calibri"/>
              </a:rPr>
              <a:t>15.2%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36608" y="337413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20" b="0" i="0">
                <a:solidFill>
                  <a:srgbClr val="9AA5BB"/>
                </a:solidFill>
                <a:latin typeface="Calibri"/>
              </a:rPr>
              <a:t>67.4%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895344"/>
            <a:ext cx="11475720" cy="530352"/>
          </a:xfrm>
          <a:prstGeom prst="rect">
            <a:avLst/>
          </a:prstGeom>
          <a:solidFill>
            <a:srgbClr val="2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65760" y="3895344"/>
            <a:ext cx="3945276" cy="530352"/>
          </a:xfrm>
          <a:prstGeom prst="rect">
            <a:avLst/>
          </a:prstGeom>
          <a:solidFill>
            <a:srgbClr val="2E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" y="3941064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Home and lifestyle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38928" y="394106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60" b="0" i="0">
                <a:solidFill>
                  <a:srgbClr val="E8E4DC"/>
                </a:solidFill>
                <a:latin typeface="Calibri"/>
              </a:rPr>
              <a:t>160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42048" y="394106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20" b="0" i="0">
                <a:solidFill>
                  <a:srgbClr val="9AA5BB"/>
                </a:solidFill>
                <a:latin typeface="Calibri"/>
              </a:rPr>
              <a:t>16.0%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36608" y="394106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20" b="0" i="0">
                <a:solidFill>
                  <a:srgbClr val="9AA5BB"/>
                </a:solidFill>
                <a:latin typeface="Calibri"/>
              </a:rPr>
              <a:t>83.4%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462272"/>
            <a:ext cx="11475720" cy="530352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65760" y="4462272"/>
            <a:ext cx="4093224" cy="530352"/>
          </a:xfrm>
          <a:prstGeom prst="rect">
            <a:avLst/>
          </a:prstGeom>
          <a:solidFill>
            <a:srgbClr val="2E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02920" y="450799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Sports and travel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38928" y="450799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60" b="0" i="0">
                <a:solidFill>
                  <a:srgbClr val="E8E4DC"/>
                </a:solidFill>
                <a:latin typeface="Calibri"/>
              </a:rPr>
              <a:t>166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42048" y="450799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20" b="0" i="0">
                <a:solidFill>
                  <a:srgbClr val="9AA5BB"/>
                </a:solidFill>
                <a:latin typeface="Calibri"/>
              </a:rPr>
              <a:t>16.6%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36608" y="450799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20" b="0" i="0">
                <a:solidFill>
                  <a:srgbClr val="9AA5BB"/>
                </a:solidFill>
                <a:latin typeface="Calibri"/>
              </a:rPr>
              <a:t>100.0%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5029200"/>
            <a:ext cx="11475720" cy="502920"/>
          </a:xfrm>
          <a:prstGeom prst="rect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02920" y="5074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 i="0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38928" y="5074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60" b="1" i="0">
                <a:solidFill>
                  <a:srgbClr val="FFFFFF"/>
                </a:solidFill>
                <a:latin typeface="Calibri"/>
              </a:rPr>
              <a:t>1,000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42048" y="5074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20" b="0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5715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20" b="0" i="1">
                <a:solidFill>
                  <a:srgbClr val="E8A03C"/>
                </a:solidFill>
                <a:latin typeface="Calibri"/>
              </a:rPr>
              <a:t>Fashion accessories leads with 178 transactions  ·  Health &amp; Beauty lowest at 152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54864"/>
          </a:xfrm>
          <a:prstGeom prst="rect">
            <a:avLst/>
          </a:prstGeom>
          <a:solidFill>
            <a:srgbClr val="2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28600" y="164592"/>
            <a:ext cx="384048" cy="384048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9202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6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7160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6. Histogram &amp; Data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94360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Theme: Shape of Distribution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11457432" cy="22860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84152" y="1143000"/>
            <a:ext cx="5303520" cy="5440680"/>
          </a:xfrm>
          <a:prstGeom prst="rect">
            <a:avLst/>
          </a:prstGeom>
          <a:solidFill>
            <a:srgbClr val="222840"/>
          </a:solidFill>
          <a:ln w="635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" y="1280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Concept</a:t>
            </a:r>
          </a:p>
        </p:txBody>
      </p:sp>
      <p:sp>
        <p:nvSpPr>
          <p:cNvPr id="11" name="Oval 10"/>
          <p:cNvSpPr/>
          <p:nvPr/>
        </p:nvSpPr>
        <p:spPr>
          <a:xfrm>
            <a:off x="475488" y="1682496"/>
            <a:ext cx="137160" cy="137160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16276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Continuous distribution visualization.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176272"/>
            <a:ext cx="5212080" cy="22860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22677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Code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2606039"/>
            <a:ext cx="5138928" cy="1239011"/>
          </a:xfrm>
          <a:prstGeom prst="rect">
            <a:avLst/>
          </a:prstGeom>
          <a:solidFill>
            <a:srgbClr val="121626"/>
          </a:solidFill>
          <a:ln w="635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2715768"/>
            <a:ext cx="411480" cy="256032"/>
          </a:xfrm>
          <a:prstGeom prst="rect">
            <a:avLst/>
          </a:prstGeom>
          <a:solidFill>
            <a:srgbClr val="2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4632" y="2656332"/>
            <a:ext cx="3840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C8BA8"/>
                </a:solidFill>
                <a:latin typeface="Calibri"/>
              </a:rPr>
              <a:t>&lt;&gt; 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" y="3063240"/>
            <a:ext cx="4864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2AAFF"/>
                </a:solidFill>
                <a:latin typeface="Courier New"/>
              </a:rPr>
              <a:t>hist(df$Sales, breaks=30,
  col='skyblue', main='Histogram of Sales')
abline(v=mean_sales, col='red', lwd=2)
abline(v=median_sales, col='blue', lty=2)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822191"/>
            <a:ext cx="5212080" cy="22860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" y="39136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Mathematical Insight</a:t>
            </a:r>
          </a:p>
        </p:txBody>
      </p:sp>
      <p:sp>
        <p:nvSpPr>
          <p:cNvPr id="21" name="Oval 20"/>
          <p:cNvSpPr/>
          <p:nvPr/>
        </p:nvSpPr>
        <p:spPr>
          <a:xfrm>
            <a:off x="475488" y="4306824"/>
            <a:ext cx="137160" cy="137160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2519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Skewness: Mean &gt; Median → right tail</a:t>
            </a:r>
          </a:p>
        </p:txBody>
      </p:sp>
      <p:sp>
        <p:nvSpPr>
          <p:cNvPr id="23" name="Oval 22"/>
          <p:cNvSpPr/>
          <p:nvPr/>
        </p:nvSpPr>
        <p:spPr>
          <a:xfrm>
            <a:off x="475488" y="4782312"/>
            <a:ext cx="137160" cy="137160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472744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Comparison of mean vs median position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230368"/>
            <a:ext cx="5212080" cy="22860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8" y="53218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Real-life</a:t>
            </a:r>
          </a:p>
        </p:txBody>
      </p:sp>
      <p:sp>
        <p:nvSpPr>
          <p:cNvPr id="27" name="Oval 26"/>
          <p:cNvSpPr/>
          <p:nvPr/>
        </p:nvSpPr>
        <p:spPr>
          <a:xfrm>
            <a:off x="475488" y="5705855"/>
            <a:ext cx="137160" cy="137160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56509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Predicts probability of large transactions.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33872" y="5376672"/>
            <a:ext cx="6126480" cy="777240"/>
          </a:xfrm>
          <a:prstGeom prst="rect">
            <a:avLst/>
          </a:prstGeom>
          <a:solidFill>
            <a:srgbClr val="222840"/>
          </a:solidFill>
          <a:ln w="508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89320" y="5440680"/>
            <a:ext cx="5833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E4DC"/>
                </a:solidFill>
                <a:latin typeface="Calibri"/>
              </a:rPr>
              <a:t>─── Mean ₹322.97 (abline red)       - - - Median ₹254.02 (abline blue, lty=2)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5779008"/>
            <a:ext cx="5833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A03C"/>
                </a:solidFill>
                <a:latin typeface="Calibri"/>
              </a:rPr>
              <a:t>Mean &gt; Median  →  Positive skew (right-skewed distribution)</a:t>
            </a:r>
          </a:p>
        </p:txBody>
      </p:sp>
      <p:pic>
        <p:nvPicPr>
          <p:cNvPr id="33" name="Histogram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1143000"/>
            <a:ext cx="6126480" cy="4114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EB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40" b="1" i="0">
                <a:solidFill>
                  <a:srgbClr val="FFFFFF"/>
                </a:solidFill>
                <a:latin typeface="Georgia"/>
              </a:rPr>
              <a:t>Heatmap — Branch × Product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57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0" i="1">
                <a:solidFill>
                  <a:srgbClr val="9AA5BB"/>
                </a:solidFill>
                <a:latin typeface="Courier New"/>
              </a:rPr>
              <a:t>heatmap(as.matrix(table(df$Branch, df$Product.line)))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57432" cy="22860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481328" cy="640080"/>
          </a:xfrm>
          <a:prstGeom prst="rect">
            <a:avLst/>
          </a:prstGeom>
          <a:solidFill>
            <a:srgbClr val="2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01368" y="1143000"/>
            <a:ext cx="1627632" cy="640080"/>
          </a:xfrm>
          <a:prstGeom prst="rect">
            <a:avLst/>
          </a:prstGeom>
          <a:solidFill>
            <a:srgbClr val="2E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47088" y="1188720"/>
            <a:ext cx="15361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E8A03C"/>
                </a:solidFill>
                <a:latin typeface="Calibri"/>
              </a:rPr>
              <a:t>Electronic</a:t>
            </a:r>
            <a:r>
              <a:rPr lang="en-IN" sz="1200" b="1" i="0" dirty="0">
                <a:solidFill>
                  <a:srgbClr val="E8A03C"/>
                </a:solidFill>
                <a:latin typeface="Calibri"/>
              </a:rPr>
              <a:t> accessories</a:t>
            </a:r>
            <a:endParaRPr sz="1200" b="1" i="0" dirty="0">
              <a:solidFill>
                <a:srgbClr val="E8A03C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465576" y="1143000"/>
            <a:ext cx="1627632" cy="640080"/>
          </a:xfrm>
          <a:prstGeom prst="rect">
            <a:avLst/>
          </a:prstGeom>
          <a:solidFill>
            <a:srgbClr val="2E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11296" y="1188720"/>
            <a:ext cx="15361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E8A03C"/>
                </a:solidFill>
                <a:latin typeface="Calibri"/>
              </a:rPr>
              <a:t>Fashion</a:t>
            </a:r>
            <a:r>
              <a:rPr lang="en-IN" sz="1200" b="1" i="0" dirty="0">
                <a:solidFill>
                  <a:srgbClr val="E8A03C"/>
                </a:solidFill>
                <a:latin typeface="Calibri"/>
              </a:rPr>
              <a:t> accessories</a:t>
            </a:r>
            <a:endParaRPr sz="1200" b="1" i="0" dirty="0">
              <a:solidFill>
                <a:srgbClr val="E8A03C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129784" y="1143000"/>
            <a:ext cx="1627632" cy="640080"/>
          </a:xfrm>
          <a:prstGeom prst="rect">
            <a:avLst/>
          </a:prstGeom>
          <a:solidFill>
            <a:srgbClr val="2E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75504" y="1188720"/>
            <a:ext cx="15361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E8A03C"/>
                </a:solidFill>
                <a:latin typeface="Calibri"/>
              </a:rPr>
              <a:t>Food</a:t>
            </a:r>
            <a:r>
              <a:rPr lang="en-IN" sz="1200" b="1" i="0" dirty="0">
                <a:solidFill>
                  <a:srgbClr val="E8A03C"/>
                </a:solidFill>
                <a:latin typeface="Calibri"/>
              </a:rPr>
              <a:t>  and beverages</a:t>
            </a:r>
            <a:endParaRPr sz="1200" b="1" i="0" dirty="0">
              <a:solidFill>
                <a:srgbClr val="E8A03C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793992" y="1143000"/>
            <a:ext cx="1627632" cy="640080"/>
          </a:xfrm>
          <a:prstGeom prst="rect">
            <a:avLst/>
          </a:prstGeom>
          <a:solidFill>
            <a:srgbClr val="2E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39712" y="1188720"/>
            <a:ext cx="15361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E8A03C"/>
                </a:solidFill>
                <a:latin typeface="Calibri"/>
              </a:rPr>
              <a:t>Health</a:t>
            </a:r>
            <a:r>
              <a:rPr lang="en-IN" sz="1200" b="1" i="0" dirty="0">
                <a:solidFill>
                  <a:srgbClr val="E8A03C"/>
                </a:solidFill>
                <a:latin typeface="Calibri"/>
              </a:rPr>
              <a:t> and beauty</a:t>
            </a:r>
            <a:endParaRPr sz="1200" b="1" i="0" dirty="0">
              <a:solidFill>
                <a:srgbClr val="E8A03C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458200" y="1143000"/>
            <a:ext cx="1627632" cy="640080"/>
          </a:xfrm>
          <a:prstGeom prst="rect">
            <a:avLst/>
          </a:prstGeom>
          <a:solidFill>
            <a:srgbClr val="2E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0" y="1188720"/>
            <a:ext cx="15361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E8A03C"/>
                </a:solidFill>
                <a:latin typeface="Calibri"/>
              </a:rPr>
              <a:t>Home</a:t>
            </a:r>
            <a:r>
              <a:rPr lang="en-IN" sz="1200" b="1" i="0" dirty="0">
                <a:solidFill>
                  <a:srgbClr val="E8A03C"/>
                </a:solidFill>
                <a:latin typeface="Calibri"/>
              </a:rPr>
              <a:t>  and lifestyle</a:t>
            </a:r>
            <a:endParaRPr sz="1200" b="1" i="0" dirty="0">
              <a:solidFill>
                <a:srgbClr val="E8A03C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0122408" y="1143000"/>
            <a:ext cx="1627632" cy="640080"/>
          </a:xfrm>
          <a:prstGeom prst="rect">
            <a:avLst/>
          </a:prstGeom>
          <a:solidFill>
            <a:srgbClr val="2E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168128" y="1188720"/>
            <a:ext cx="15361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E8A03C"/>
                </a:solidFill>
                <a:latin typeface="Calibri"/>
              </a:rPr>
              <a:t>Sports</a:t>
            </a:r>
            <a:r>
              <a:rPr lang="en-IN" sz="1200" b="1" i="0" dirty="0">
                <a:solidFill>
                  <a:srgbClr val="E8A03C"/>
                </a:solidFill>
                <a:latin typeface="Calibri"/>
              </a:rPr>
              <a:t>  and travel</a:t>
            </a:r>
          </a:p>
          <a:p>
            <a:pPr algn="ctr"/>
            <a:endParaRPr sz="1200" b="1" i="0" dirty="0">
              <a:solidFill>
                <a:srgbClr val="E8A03C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20040" y="1819656"/>
            <a:ext cx="1481328" cy="1170432"/>
          </a:xfrm>
          <a:prstGeom prst="rect">
            <a:avLst/>
          </a:prstGeom>
          <a:solidFill>
            <a:srgbClr val="2E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" y="2167128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80" b="1" i="0">
                <a:solidFill>
                  <a:srgbClr val="FFFFFF"/>
                </a:solidFill>
                <a:latin typeface="Georgia"/>
              </a:rPr>
              <a:t>Alex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01368" y="1819656"/>
            <a:ext cx="1627632" cy="1170432"/>
          </a:xfrm>
          <a:prstGeom prst="rect">
            <a:avLst/>
          </a:prstGeom>
          <a:solidFill>
            <a:srgbClr val="DE5E00"/>
          </a:solidFill>
          <a:ln w="381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01368" y="2139696"/>
            <a:ext cx="16276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40" b="1" i="0">
                <a:solidFill>
                  <a:srgbClr val="FFFFFF"/>
                </a:solidFill>
                <a:latin typeface="Georgia"/>
              </a:rPr>
              <a:t>60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65576" y="1819656"/>
            <a:ext cx="1627632" cy="1170432"/>
          </a:xfrm>
          <a:prstGeom prst="rect">
            <a:avLst/>
          </a:prstGeom>
          <a:solidFill>
            <a:srgbClr val="FFCB4D"/>
          </a:solidFill>
          <a:ln w="381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65576" y="2139696"/>
            <a:ext cx="16276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40" b="1" i="0">
                <a:solidFill>
                  <a:srgbClr val="FFFFFF"/>
                </a:solidFill>
                <a:latin typeface="Georgia"/>
              </a:rPr>
              <a:t>58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9784" y="1819656"/>
            <a:ext cx="1627632" cy="1170432"/>
          </a:xfrm>
          <a:prstGeom prst="rect">
            <a:avLst/>
          </a:prstGeom>
          <a:solidFill>
            <a:srgbClr val="EC7D00"/>
          </a:solidFill>
          <a:ln w="381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29784" y="2139696"/>
            <a:ext cx="16276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40" b="1" i="0">
                <a:solidFill>
                  <a:srgbClr val="FFFFFF"/>
                </a:solidFill>
                <a:latin typeface="Georgia"/>
              </a:rPr>
              <a:t>59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93992" y="1819656"/>
            <a:ext cx="1627632" cy="1170432"/>
          </a:xfrm>
          <a:prstGeom prst="rect">
            <a:avLst/>
          </a:prstGeom>
          <a:solidFill>
            <a:srgbClr val="FFED91"/>
          </a:solidFill>
          <a:ln w="381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93992" y="2139696"/>
            <a:ext cx="16276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40" b="1" i="0">
                <a:solidFill>
                  <a:srgbClr val="FFFFFF"/>
                </a:solidFill>
                <a:latin typeface="Georgia"/>
              </a:rPr>
              <a:t>62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58200" y="1819656"/>
            <a:ext cx="1627632" cy="1170432"/>
          </a:xfrm>
          <a:prstGeom prst="rect">
            <a:avLst/>
          </a:prstGeom>
          <a:solidFill>
            <a:srgbClr val="B90F00"/>
          </a:solidFill>
          <a:ln w="381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58200" y="2139696"/>
            <a:ext cx="16276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40" b="1" i="0">
                <a:solidFill>
                  <a:srgbClr val="FFFFFF"/>
                </a:solidFill>
                <a:latin typeface="Georgia"/>
              </a:rPr>
              <a:t>65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22408" y="1819656"/>
            <a:ext cx="1627632" cy="1170432"/>
          </a:xfrm>
          <a:prstGeom prst="rect">
            <a:avLst/>
          </a:prstGeom>
          <a:solidFill>
            <a:srgbClr val="E56E00"/>
          </a:solidFill>
          <a:ln w="381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122408" y="2139696"/>
            <a:ext cx="16276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40" b="1" i="0">
                <a:solidFill>
                  <a:srgbClr val="FFFFFF"/>
                </a:solidFill>
                <a:latin typeface="Georgia"/>
              </a:rPr>
              <a:t>59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3054096"/>
            <a:ext cx="1481328" cy="1170432"/>
          </a:xfrm>
          <a:prstGeom prst="rect">
            <a:avLst/>
          </a:prstGeom>
          <a:solidFill>
            <a:srgbClr val="2E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7472" y="3401568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80" b="1" i="0">
                <a:solidFill>
                  <a:srgbClr val="FFFFFF"/>
                </a:solidFill>
                <a:latin typeface="Georgia"/>
              </a:rPr>
              <a:t>Giza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01368" y="3054096"/>
            <a:ext cx="1627632" cy="1170432"/>
          </a:xfrm>
          <a:prstGeom prst="rect">
            <a:avLst/>
          </a:prstGeom>
          <a:solidFill>
            <a:srgbClr val="FFA908"/>
          </a:solidFill>
          <a:ln w="381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01368" y="3374136"/>
            <a:ext cx="16276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40" b="1" i="0">
                <a:solidFill>
                  <a:srgbClr val="FFFFFF"/>
                </a:solidFill>
                <a:latin typeface="Georgia"/>
              </a:rPr>
              <a:t>55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65576" y="3054096"/>
            <a:ext cx="1627632" cy="1170432"/>
          </a:xfrm>
          <a:prstGeom prst="rect">
            <a:avLst/>
          </a:prstGeom>
          <a:solidFill>
            <a:srgbClr val="FFFE99"/>
          </a:solidFill>
          <a:ln w="381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465576" y="3374136"/>
            <a:ext cx="16276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40" b="1" i="0">
                <a:solidFill>
                  <a:srgbClr val="FFFFFF"/>
                </a:solidFill>
                <a:latin typeface="Georgia"/>
              </a:rPr>
              <a:t>21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29784" y="3054096"/>
            <a:ext cx="1627632" cy="117043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81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129784" y="3374136"/>
            <a:ext cx="16276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40" b="1" i="0">
                <a:solidFill>
                  <a:srgbClr val="FFFFFF"/>
                </a:solidFill>
                <a:latin typeface="Georgia"/>
              </a:rPr>
              <a:t>57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93992" y="3054096"/>
            <a:ext cx="1627632" cy="1170432"/>
          </a:xfrm>
          <a:prstGeom prst="rect">
            <a:avLst/>
          </a:prstGeom>
          <a:solidFill>
            <a:srgbClr val="FFC33C"/>
          </a:solidFill>
          <a:ln w="381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793992" y="3374136"/>
            <a:ext cx="16276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40" b="1" i="0">
                <a:solidFill>
                  <a:srgbClr val="FFFFFF"/>
                </a:solidFill>
                <a:latin typeface="Georgia"/>
              </a:rPr>
              <a:t>50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58200" y="3054096"/>
            <a:ext cx="1627632" cy="1170432"/>
          </a:xfrm>
          <a:prstGeom prst="rect">
            <a:avLst/>
          </a:prstGeom>
          <a:solidFill>
            <a:srgbClr val="FFFFB4"/>
          </a:solidFill>
          <a:ln w="381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58200" y="3374136"/>
            <a:ext cx="16276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40" b="1" i="0">
                <a:solidFill>
                  <a:srgbClr val="FFFFFF"/>
                </a:solidFill>
                <a:latin typeface="Georgia"/>
              </a:rPr>
              <a:t>58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122408" y="3054096"/>
            <a:ext cx="1627632" cy="1170432"/>
          </a:xfrm>
          <a:prstGeom prst="rect">
            <a:avLst/>
          </a:prstGeom>
          <a:solidFill>
            <a:srgbClr val="FFFFB4"/>
          </a:solidFill>
          <a:ln w="381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122408" y="3374136"/>
            <a:ext cx="16276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40" b="1" i="0">
                <a:solidFill>
                  <a:srgbClr val="FFFFFF"/>
                </a:solidFill>
                <a:latin typeface="Georgia"/>
              </a:rPr>
              <a:t>45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4288536"/>
            <a:ext cx="1481328" cy="1170432"/>
          </a:xfrm>
          <a:prstGeom prst="rect">
            <a:avLst/>
          </a:prstGeom>
          <a:solidFill>
            <a:srgbClr val="2E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47472" y="4636008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80" b="1" i="0">
                <a:solidFill>
                  <a:srgbClr val="FFFFFF"/>
                </a:solidFill>
                <a:latin typeface="Georgia"/>
              </a:rPr>
              <a:t>Cairo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01368" y="4288536"/>
            <a:ext cx="1627632" cy="1170432"/>
          </a:xfrm>
          <a:prstGeom prst="rect">
            <a:avLst/>
          </a:prstGeom>
          <a:solidFill>
            <a:srgbClr val="FFA908"/>
          </a:solidFill>
          <a:ln w="381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801368" y="4608576"/>
            <a:ext cx="16276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40" b="1" i="0">
                <a:solidFill>
                  <a:srgbClr val="FFFFFF"/>
                </a:solidFill>
                <a:latin typeface="Georgia"/>
              </a:rPr>
              <a:t>55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65576" y="4288536"/>
            <a:ext cx="1627632" cy="1170432"/>
          </a:xfrm>
          <a:prstGeom prst="rect">
            <a:avLst/>
          </a:prstGeom>
          <a:solidFill>
            <a:srgbClr val="C00000"/>
          </a:solidFill>
          <a:ln w="381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465576" y="4608576"/>
            <a:ext cx="16276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40" b="1" i="0">
                <a:solidFill>
                  <a:srgbClr val="FFFFFF"/>
                </a:solidFill>
                <a:latin typeface="Georgia"/>
              </a:rPr>
              <a:t>99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129784" y="4288536"/>
            <a:ext cx="1627632" cy="1170432"/>
          </a:xfrm>
          <a:prstGeom prst="rect">
            <a:avLst/>
          </a:prstGeom>
          <a:solidFill>
            <a:srgbClr val="FFD45E"/>
          </a:solidFill>
          <a:ln w="381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29784" y="4608576"/>
            <a:ext cx="16276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40" b="1" i="0">
                <a:solidFill>
                  <a:srgbClr val="FFFFFF"/>
                </a:solidFill>
                <a:latin typeface="Georgia"/>
              </a:rPr>
              <a:t>58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93992" y="4288536"/>
            <a:ext cx="1627632" cy="1170432"/>
          </a:xfrm>
          <a:prstGeom prst="rect">
            <a:avLst/>
          </a:prstGeom>
          <a:solidFill>
            <a:srgbClr val="FFBA2A"/>
          </a:solidFill>
          <a:ln w="381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793992" y="4608576"/>
            <a:ext cx="16276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40" b="1" i="0">
                <a:solidFill>
                  <a:srgbClr val="FFFFFF"/>
                </a:solidFill>
                <a:latin typeface="Georgia"/>
              </a:rPr>
              <a:t>40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58200" y="4288536"/>
            <a:ext cx="1627632" cy="1170432"/>
          </a:xfrm>
          <a:prstGeom prst="rect">
            <a:avLst/>
          </a:prstGeom>
          <a:solidFill>
            <a:srgbClr val="FFD45E"/>
          </a:solidFill>
          <a:ln w="381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458200" y="4608576"/>
            <a:ext cx="16276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40" b="1" i="0">
                <a:solidFill>
                  <a:srgbClr val="FFFFFF"/>
                </a:solidFill>
                <a:latin typeface="Georgia"/>
              </a:rPr>
              <a:t>37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122408" y="4288536"/>
            <a:ext cx="1627632" cy="1170432"/>
          </a:xfrm>
          <a:prstGeom prst="rect">
            <a:avLst/>
          </a:prstGeom>
          <a:solidFill>
            <a:srgbClr val="CF3E00"/>
          </a:solidFill>
          <a:ln w="381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122408" y="4608576"/>
            <a:ext cx="16276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40" b="1" i="0">
                <a:solidFill>
                  <a:srgbClr val="FFFFFF"/>
                </a:solidFill>
                <a:latin typeface="Georgia"/>
              </a:rPr>
              <a:t>62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5440680"/>
            <a:ext cx="11567160" cy="1170432"/>
          </a:xfrm>
          <a:prstGeom prst="rect">
            <a:avLst/>
          </a:prstGeom>
          <a:solidFill>
            <a:srgbClr val="222840"/>
          </a:solidFill>
          <a:ln w="508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2920" y="5504688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 i="0">
                <a:solidFill>
                  <a:srgbClr val="2EB59A"/>
                </a:solidFill>
                <a:latin typeface="Calibri"/>
              </a:rPr>
              <a:t>Key Findings</a:t>
            </a:r>
          </a:p>
        </p:txBody>
      </p:sp>
      <p:sp>
        <p:nvSpPr>
          <p:cNvPr id="63" name="Oval 62"/>
          <p:cNvSpPr/>
          <p:nvPr/>
        </p:nvSpPr>
        <p:spPr>
          <a:xfrm>
            <a:off x="475488" y="5870448"/>
            <a:ext cx="128016" cy="128016"/>
          </a:xfrm>
          <a:prstGeom prst="ellipse">
            <a:avLst/>
          </a:prstGeom>
          <a:solidFill>
            <a:srgbClr val="2EB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85800" y="5833872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40" b="0" i="0">
                <a:solidFill>
                  <a:srgbClr val="E8E4DC"/>
                </a:solidFill>
                <a:latin typeface="Calibri"/>
              </a:rPr>
              <a:t>Cairo Fashion accessories (99) is highest — Electronics uniformly distributed ~55-60</a:t>
            </a:r>
          </a:p>
        </p:txBody>
      </p:sp>
      <p:sp>
        <p:nvSpPr>
          <p:cNvPr id="65" name="Oval 64"/>
          <p:cNvSpPr/>
          <p:nvPr/>
        </p:nvSpPr>
        <p:spPr>
          <a:xfrm>
            <a:off x="475488" y="6126480"/>
            <a:ext cx="128016" cy="128016"/>
          </a:xfrm>
          <a:prstGeom prst="ellipse">
            <a:avLst/>
          </a:prstGeom>
          <a:solidFill>
            <a:srgbClr val="2EB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85800" y="6089904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40" b="0" i="0">
                <a:solidFill>
                  <a:srgbClr val="E8E4DC"/>
                </a:solidFill>
                <a:latin typeface="Calibri"/>
              </a:rPr>
              <a:t>Electronics uniformly distributed ~55-60 across all branches — consistent demand</a:t>
            </a:r>
          </a:p>
        </p:txBody>
      </p:sp>
      <p:sp>
        <p:nvSpPr>
          <p:cNvPr id="67" name="Oval 66"/>
          <p:cNvSpPr/>
          <p:nvPr/>
        </p:nvSpPr>
        <p:spPr>
          <a:xfrm>
            <a:off x="475488" y="6382512"/>
            <a:ext cx="128016" cy="128016"/>
          </a:xfrm>
          <a:prstGeom prst="ellipse">
            <a:avLst/>
          </a:prstGeom>
          <a:solidFill>
            <a:srgbClr val="2EB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85800" y="6345936"/>
            <a:ext cx="10972800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40" b="0" i="0" dirty="0">
                <a:solidFill>
                  <a:srgbClr val="E8E4DC"/>
                </a:solidFill>
                <a:latin typeface="Calibri"/>
              </a:rPr>
              <a:t> dominates Health &amp; Beauty (62) and Home &amp; Lifestyle (65)
COLOR CODE: 🟨 Bright Yellow (</a:t>
            </a:r>
            <a:r>
              <a:rPr lang="en-IN" sz="1140" dirty="0">
                <a:solidFill>
                  <a:srgbClr val="E8E4DC"/>
                </a:solidFill>
                <a:latin typeface="Calibri"/>
              </a:rPr>
              <a:t>20-45</a:t>
            </a:r>
            <a:r>
              <a:rPr sz="1140" b="0" i="0" dirty="0">
                <a:solidFill>
                  <a:srgbClr val="E8E4DC"/>
                </a:solidFill>
                <a:latin typeface="Calibri"/>
              </a:rPr>
              <a:t>) = </a:t>
            </a:r>
            <a:r>
              <a:rPr lang="en-IN" sz="1140" dirty="0">
                <a:solidFill>
                  <a:srgbClr val="E8E4DC"/>
                </a:solidFill>
                <a:latin typeface="Calibri"/>
              </a:rPr>
              <a:t>Lowest</a:t>
            </a:r>
            <a:r>
              <a:rPr sz="1140" b="0" i="0" dirty="0">
                <a:solidFill>
                  <a:srgbClr val="E8E4DC"/>
                </a:solidFill>
                <a:latin typeface="Calibri"/>
              </a:rPr>
              <a:t> | 🟠 Bright Orange (60-65) = Very High | 🟠 Medium Orange (50-60) = Average | 🔴 Dark Red (</a:t>
            </a:r>
            <a:r>
              <a:rPr lang="en-IN" sz="1140" b="0" i="0" dirty="0">
                <a:solidFill>
                  <a:srgbClr val="E8E4DC"/>
                </a:solidFill>
                <a:latin typeface="Calibri"/>
              </a:rPr>
              <a:t>90-99</a:t>
            </a:r>
            <a:r>
              <a:rPr sz="1140" b="0" i="0" dirty="0">
                <a:solidFill>
                  <a:srgbClr val="E8E4DC"/>
                </a:solidFill>
                <a:latin typeface="Calibri"/>
              </a:rPr>
              <a:t>) = </a:t>
            </a:r>
            <a:r>
              <a:rPr lang="en-IN" sz="1140" dirty="0">
                <a:solidFill>
                  <a:srgbClr val="E8E4DC"/>
                </a:solidFill>
                <a:latin typeface="Calibri"/>
              </a:rPr>
              <a:t>Highest</a:t>
            </a:r>
            <a:endParaRPr sz="1140" b="0" i="0" dirty="0">
              <a:solidFill>
                <a:srgbClr val="E8E4DC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54864"/>
          </a:xfrm>
          <a:prstGeom prst="rect">
            <a:avLst/>
          </a:prstGeom>
          <a:solidFill>
            <a:srgbClr val="2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28600" y="164592"/>
            <a:ext cx="384048" cy="384048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9202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6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7160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7. Bayes'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94360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Theme: Conditional Probability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11457432" cy="22860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11640312" cy="960120"/>
          </a:xfrm>
          <a:prstGeom prst="rect">
            <a:avLst/>
          </a:prstGeom>
          <a:solidFill>
            <a:srgbClr val="222840"/>
          </a:solidFill>
          <a:ln w="635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Mathematics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536192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E8E4DC"/>
                </a:solidFill>
                <a:latin typeface="Georgia"/>
              </a:rPr>
              <a:t>P(A|B)  =  P(B|A) · P(A)  /  P(B)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331720"/>
            <a:ext cx="2834640" cy="1828800"/>
          </a:xfrm>
          <a:prstGeom prst="rect">
            <a:avLst/>
          </a:prstGeom>
          <a:solidFill>
            <a:srgbClr val="1A1E35"/>
          </a:solidFill>
          <a:ln w="508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2331720"/>
            <a:ext cx="2834640" cy="54864"/>
          </a:xfrm>
          <a:prstGeom prst="rect">
            <a:avLst/>
          </a:prstGeom>
          <a:solidFill>
            <a:srgbClr val="E8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79" y="245059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A5BB"/>
                </a:solidFill>
                <a:latin typeface="Calibri"/>
              </a:rPr>
              <a:t>P(Member)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816352"/>
            <a:ext cx="2834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60" b="1" i="0">
                <a:solidFill>
                  <a:srgbClr val="E8A03C"/>
                </a:solidFill>
                <a:latin typeface="Georgia"/>
              </a:rPr>
              <a:t>0.5650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3493008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40" b="0" i="0">
                <a:solidFill>
                  <a:srgbClr val="E8E4DC"/>
                </a:solidFill>
                <a:latin typeface="Calibri"/>
              </a:rPr>
              <a:t>565 of 1,000 are Members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73551" y="2331720"/>
            <a:ext cx="2834640" cy="1828800"/>
          </a:xfrm>
          <a:prstGeom prst="rect">
            <a:avLst/>
          </a:prstGeom>
          <a:solidFill>
            <a:srgbClr val="1A1E35"/>
          </a:solidFill>
          <a:ln w="508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73551" y="2331720"/>
            <a:ext cx="2834640" cy="54864"/>
          </a:xfrm>
          <a:prstGeom prst="rect">
            <a:avLst/>
          </a:prstGeom>
          <a:solidFill>
            <a:srgbClr val="2EB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10711" y="245059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A5BB"/>
                </a:solidFill>
                <a:latin typeface="Calibri"/>
              </a:rPr>
              <a:t>P(Electronics)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73551" y="2816352"/>
            <a:ext cx="2834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60" b="1" i="0">
                <a:solidFill>
                  <a:srgbClr val="2EB59A"/>
                </a:solidFill>
                <a:latin typeface="Georgia"/>
              </a:rPr>
              <a:t>0.1700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10711" y="3493008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40" b="0" i="0">
                <a:solidFill>
                  <a:srgbClr val="E8E4DC"/>
                </a:solidFill>
                <a:latin typeface="Calibri"/>
              </a:rPr>
              <a:t>170 of 1,000 buy electronics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72783" y="2331720"/>
            <a:ext cx="2834640" cy="1828800"/>
          </a:xfrm>
          <a:prstGeom prst="rect">
            <a:avLst/>
          </a:prstGeom>
          <a:solidFill>
            <a:srgbClr val="1A1E35"/>
          </a:solidFill>
          <a:ln w="508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72783" y="2331720"/>
            <a:ext cx="2834640" cy="54864"/>
          </a:xfrm>
          <a:prstGeom prst="rect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9944" y="245059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A5BB"/>
                </a:solidFill>
                <a:latin typeface="Calibri"/>
              </a:rPr>
              <a:t>P(Elec | Member)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2783" y="2816352"/>
            <a:ext cx="2834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60" b="1" i="0">
                <a:solidFill>
                  <a:srgbClr val="8B6BD4"/>
                </a:solidFill>
                <a:latin typeface="Georgia"/>
              </a:rPr>
              <a:t>0.1593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9944" y="3493008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40" b="0" i="0">
                <a:solidFill>
                  <a:srgbClr val="E8E4DC"/>
                </a:solidFill>
                <a:latin typeface="Calibri"/>
              </a:rPr>
              <a:t>90 of 565 members buy elec.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72016" y="2331720"/>
            <a:ext cx="2834640" cy="1828800"/>
          </a:xfrm>
          <a:prstGeom prst="rect">
            <a:avLst/>
          </a:prstGeom>
          <a:solidFill>
            <a:srgbClr val="1A1E35"/>
          </a:solidFill>
          <a:ln w="508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272016" y="2331720"/>
            <a:ext cx="2834640" cy="54864"/>
          </a:xfrm>
          <a:prstGeom prst="rect">
            <a:avLst/>
          </a:prstGeom>
          <a:solidFill>
            <a:srgbClr val="D6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409176" y="245059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A5BB"/>
                </a:solidFill>
                <a:latin typeface="Calibri"/>
              </a:rPr>
              <a:t>P(Member | Elec)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72016" y="2816352"/>
            <a:ext cx="2834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60" b="1" i="0">
                <a:solidFill>
                  <a:srgbClr val="D65F5F"/>
                </a:solidFill>
                <a:latin typeface="Georgia"/>
              </a:rPr>
              <a:t>0.5294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9176" y="3493008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40" b="0" i="0">
                <a:solidFill>
                  <a:srgbClr val="E8E4DC"/>
                </a:solidFill>
                <a:latin typeface="Calibri"/>
              </a:rPr>
              <a:t>★  Final Answer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343400"/>
            <a:ext cx="5760720" cy="2240280"/>
          </a:xfrm>
          <a:prstGeom prst="rect">
            <a:avLst/>
          </a:prstGeom>
          <a:solidFill>
            <a:srgbClr val="222840"/>
          </a:solidFill>
          <a:ln w="635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91072" y="4343400"/>
            <a:ext cx="5596128" cy="2240280"/>
          </a:xfrm>
          <a:prstGeom prst="rect">
            <a:avLst/>
          </a:prstGeom>
          <a:solidFill>
            <a:srgbClr val="222840"/>
          </a:solidFill>
          <a:ln w="635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5488" y="4480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Code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" y="4800600"/>
            <a:ext cx="5559552" cy="1965960"/>
          </a:xfrm>
          <a:prstGeom prst="rect">
            <a:avLst/>
          </a:prstGeom>
          <a:solidFill>
            <a:srgbClr val="121626"/>
          </a:solidFill>
          <a:ln w="635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57200" y="4910328"/>
            <a:ext cx="411480" cy="256032"/>
          </a:xfrm>
          <a:prstGeom prst="rect">
            <a:avLst/>
          </a:prstGeom>
          <a:solidFill>
            <a:srgbClr val="2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7188" y="4850548"/>
            <a:ext cx="3840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C8BA8"/>
                </a:solidFill>
                <a:latin typeface="Calibri"/>
              </a:rPr>
              <a:t>&lt;&gt; 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" y="5257800"/>
            <a:ext cx="5285232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2AAFF"/>
                </a:solidFill>
                <a:latin typeface="Courier New"/>
              </a:rPr>
              <a:t>p_member &lt;- mean(df$Customer.type == 'Member')
p_elec   &lt;- mean(df$Product.line == 'Electronic accessories')
p_elec_given_member &lt;- mean(
  df$Product.line[df$Customer.type=='Member']
  == 'Electronic accessories')
p_member_given_elec &lt;-
  (p_elec_given_member * p_member) / p_elec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480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Output Meaning</a:t>
            </a:r>
          </a:p>
        </p:txBody>
      </p:sp>
      <p:sp>
        <p:nvSpPr>
          <p:cNvPr id="40" name="Oval 39"/>
          <p:cNvSpPr/>
          <p:nvPr/>
        </p:nvSpPr>
        <p:spPr>
          <a:xfrm>
            <a:off x="6492240" y="4855464"/>
            <a:ext cx="137160" cy="137160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748272" y="4800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Probability a customer is a member</a:t>
            </a:r>
          </a:p>
        </p:txBody>
      </p:sp>
      <p:sp>
        <p:nvSpPr>
          <p:cNvPr id="42" name="Oval 41"/>
          <p:cNvSpPr/>
          <p:nvPr/>
        </p:nvSpPr>
        <p:spPr>
          <a:xfrm>
            <a:off x="6492240" y="5330951"/>
            <a:ext cx="137160" cy="137160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748272" y="527608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given electronics purchase = 52.94%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91072" y="5596128"/>
            <a:ext cx="5577840" cy="22860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92240" y="56875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Real-life</a:t>
            </a:r>
          </a:p>
        </p:txBody>
      </p:sp>
      <p:sp>
        <p:nvSpPr>
          <p:cNvPr id="46" name="Oval 45"/>
          <p:cNvSpPr/>
          <p:nvPr/>
        </p:nvSpPr>
        <p:spPr>
          <a:xfrm>
            <a:off x="6492240" y="6044183"/>
            <a:ext cx="137160" cy="137160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748272" y="5989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Targeted marketing strategies.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54864"/>
          </a:xfrm>
          <a:prstGeom prst="rect">
            <a:avLst/>
          </a:prstGeom>
          <a:solidFill>
            <a:srgbClr val="2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28600" y="164592"/>
            <a:ext cx="384048" cy="384048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9202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6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7160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8. Discrete Distributions — Binomial &amp; Poisson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94360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Theme: Modeling Events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11457432" cy="22860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5623560" cy="5440680"/>
          </a:xfrm>
          <a:prstGeom prst="rect">
            <a:avLst/>
          </a:prstGeom>
          <a:solidFill>
            <a:srgbClr val="222840"/>
          </a:solidFill>
          <a:ln w="635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143000"/>
            <a:ext cx="5715000" cy="5440680"/>
          </a:xfrm>
          <a:prstGeom prst="rect">
            <a:avLst/>
          </a:prstGeom>
          <a:solidFill>
            <a:srgbClr val="222840"/>
          </a:solidFill>
          <a:ln w="635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126187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20" b="1" i="0">
                <a:solidFill>
                  <a:srgbClr val="E8A03C"/>
                </a:solidFill>
                <a:latin typeface="Georgia"/>
              </a:rPr>
              <a:t>Binomial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6642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Mathematics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19659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60" b="0" i="1">
                <a:solidFill>
                  <a:srgbClr val="E8E4DC"/>
                </a:solidFill>
                <a:latin typeface="Georgia"/>
              </a:rPr>
              <a:t>P(X=k) = C(n,k) · pᵏ · (1-p)ⁿ⁻ᵏ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395728"/>
            <a:ext cx="5532120" cy="22860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24871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Code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2816352"/>
            <a:ext cx="5321808" cy="804672"/>
          </a:xfrm>
          <a:prstGeom prst="rect">
            <a:avLst/>
          </a:prstGeom>
          <a:solidFill>
            <a:srgbClr val="121626"/>
          </a:solidFill>
          <a:ln w="635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2926080"/>
            <a:ext cx="411480" cy="256032"/>
          </a:xfrm>
          <a:prstGeom prst="rect">
            <a:avLst/>
          </a:prstGeom>
          <a:solidFill>
            <a:srgbClr val="2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2926080"/>
            <a:ext cx="3840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C8BA8"/>
                </a:solidFill>
                <a:latin typeface="Calibri"/>
              </a:rPr>
              <a:t>&lt;&gt;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" y="3273552"/>
            <a:ext cx="5047488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2AAFF"/>
                </a:solidFill>
                <a:latin typeface="Courier New"/>
              </a:rPr>
              <a:t>dbinom(3, size=10, prob=p_member)
# Result: 0.0638  (6.38%)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703320"/>
            <a:ext cx="5532120" cy="22860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" y="3794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Use</a:t>
            </a:r>
          </a:p>
        </p:txBody>
      </p:sp>
      <p:sp>
        <p:nvSpPr>
          <p:cNvPr id="22" name="Oval 21"/>
          <p:cNvSpPr/>
          <p:nvPr/>
        </p:nvSpPr>
        <p:spPr>
          <a:xfrm>
            <a:off x="475488" y="4187951"/>
            <a:ext cx="137160" cy="137160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133087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P(exactly 3 Members in 10 customers)</a:t>
            </a:r>
          </a:p>
        </p:txBody>
      </p:sp>
      <p:sp>
        <p:nvSpPr>
          <p:cNvPr id="24" name="Oval 23"/>
          <p:cNvSpPr/>
          <p:nvPr/>
        </p:nvSpPr>
        <p:spPr>
          <a:xfrm>
            <a:off x="475488" y="4663439"/>
            <a:ext cx="137160" cy="137160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608575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p = 0.565  →  P(X=3) = 0.0638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" y="5166360"/>
            <a:ext cx="5321808" cy="685800"/>
          </a:xfrm>
          <a:prstGeom prst="rect">
            <a:avLst/>
          </a:prstGeom>
          <a:solidFill>
            <a:srgbClr val="B0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7472" y="5193792"/>
            <a:ext cx="532180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Georgia"/>
              </a:rPr>
              <a:t>P(X = 3)  =  0.0638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126187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20" b="1" i="0">
                <a:solidFill>
                  <a:srgbClr val="2EB59A"/>
                </a:solidFill>
                <a:latin typeface="Georgia"/>
              </a:rPr>
              <a:t>Poisson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16642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Mathematics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19659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60" b="0" i="1">
                <a:solidFill>
                  <a:srgbClr val="E8E4DC"/>
                </a:solidFill>
                <a:latin typeface="Georgia"/>
              </a:rPr>
              <a:t>P(X=k) = e⁻λ · λᵏ / k!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2395728"/>
            <a:ext cx="5715000" cy="22860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55080" y="24871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Code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99632" y="2816352"/>
            <a:ext cx="5486400" cy="804672"/>
          </a:xfrm>
          <a:prstGeom prst="rect">
            <a:avLst/>
          </a:prstGeom>
          <a:solidFill>
            <a:srgbClr val="121626"/>
          </a:solidFill>
          <a:ln w="635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309360" y="2926080"/>
            <a:ext cx="411480" cy="256032"/>
          </a:xfrm>
          <a:prstGeom prst="rect">
            <a:avLst/>
          </a:prstGeom>
          <a:solidFill>
            <a:srgbClr val="2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27648" y="2926080"/>
            <a:ext cx="3840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C8BA8"/>
                </a:solidFill>
                <a:latin typeface="Calibri"/>
              </a:rPr>
              <a:t>&lt;&gt; 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36792" y="3273552"/>
            <a:ext cx="521208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2AAFF"/>
                </a:solidFill>
                <a:latin typeface="Courier New"/>
              </a:rPr>
              <a:t>dpois(x, lambda=lambda)
# lambda = 1.62 arrivals/hr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3703320"/>
            <a:ext cx="5715000" cy="22860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55080" y="3794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Interpretation</a:t>
            </a:r>
          </a:p>
        </p:txBody>
      </p:sp>
      <p:sp>
        <p:nvSpPr>
          <p:cNvPr id="39" name="Oval 38"/>
          <p:cNvSpPr/>
          <p:nvPr/>
        </p:nvSpPr>
        <p:spPr>
          <a:xfrm>
            <a:off x="6355080" y="4187951"/>
            <a:ext cx="137160" cy="137160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11112" y="4133087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Models customer arrivals per hour</a:t>
            </a:r>
          </a:p>
        </p:txBody>
      </p:sp>
      <p:sp>
        <p:nvSpPr>
          <p:cNvPr id="41" name="Oval 40"/>
          <p:cNvSpPr/>
          <p:nvPr/>
        </p:nvSpPr>
        <p:spPr>
          <a:xfrm>
            <a:off x="6355080" y="4663439"/>
            <a:ext cx="137160" cy="137160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37960" y="4601145"/>
            <a:ext cx="5303520" cy="295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 dirty="0">
                <a:solidFill>
                  <a:srgbClr val="E8E4DC"/>
                </a:solidFill>
                <a:latin typeface="Calibri"/>
              </a:rPr>
              <a:t>λ = 1.62  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5102352"/>
            <a:ext cx="5715000" cy="22860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55080" y="51937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Real-life</a:t>
            </a:r>
          </a:p>
        </p:txBody>
      </p:sp>
      <p:sp>
        <p:nvSpPr>
          <p:cNvPr id="45" name="Oval 44"/>
          <p:cNvSpPr/>
          <p:nvPr/>
        </p:nvSpPr>
        <p:spPr>
          <a:xfrm>
            <a:off x="6355080" y="5586983"/>
            <a:ext cx="137160" cy="137160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11112" y="55321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Queue management &amp; staffing decisions.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40" b="1" i="0">
                <a:solidFill>
                  <a:srgbClr val="FFFFFF"/>
                </a:solidFill>
                <a:latin typeface="Georgia"/>
              </a:rPr>
              <a:t>Binomial Distribution — Full PMF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57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0" i="1">
                <a:solidFill>
                  <a:srgbClr val="9AA5BB"/>
                </a:solidFill>
                <a:latin typeface="Calibri"/>
              </a:rPr>
              <a:t>P(X=k) for n=10, p=0.565  ·  dbinom(k, size=10, prob=0.565)  ·  k=3 highlighted in amber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57432" cy="22860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090926"/>
              </p:ext>
            </p:extLst>
          </p:nvPr>
        </p:nvGraphicFramePr>
        <p:xfrm>
          <a:off x="329872" y="1115568"/>
          <a:ext cx="77724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394192" y="1115568"/>
            <a:ext cx="3474720" cy="5029200"/>
          </a:xfrm>
          <a:prstGeom prst="rect">
            <a:avLst/>
          </a:prstGeom>
          <a:solidFill>
            <a:srgbClr val="222840"/>
          </a:solidFill>
          <a:ln w="635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49640" y="1261872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60" b="1" i="0">
                <a:solidFill>
                  <a:srgbClr val="E8A03C"/>
                </a:solidFill>
                <a:latin typeface="Calibri"/>
              </a:rPr>
              <a:t>Key Values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458200" y="1737360"/>
            <a:ext cx="3291840" cy="347472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49640" y="17647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DC"/>
                </a:solidFill>
                <a:latin typeface="Calibri"/>
              </a:rPr>
              <a:t>P(X=0)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1240" y="17647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DC"/>
                </a:solidFill>
                <a:latin typeface="Calibri"/>
              </a:rPr>
              <a:t>0.0002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58200" y="2130552"/>
            <a:ext cx="3291840" cy="347472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49640" y="21579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DC"/>
                </a:solidFill>
                <a:latin typeface="Calibri"/>
              </a:rPr>
              <a:t>P(X=1)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21240" y="21579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DC"/>
                </a:solidFill>
                <a:latin typeface="Calibri"/>
              </a:rPr>
              <a:t>0.0026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58200" y="2523744"/>
            <a:ext cx="3291840" cy="347472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49640" y="255117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DC"/>
                </a:solidFill>
                <a:latin typeface="Calibri"/>
              </a:rPr>
              <a:t>P(X=2)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21240" y="255117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DC"/>
                </a:solidFill>
                <a:latin typeface="Calibri"/>
              </a:rPr>
              <a:t>0.0161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58200" y="2916936"/>
            <a:ext cx="3291840" cy="347472"/>
          </a:xfrm>
          <a:prstGeom prst="rect">
            <a:avLst/>
          </a:prstGeom>
          <a:solidFill>
            <a:srgbClr val="B0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49640" y="29443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A03C"/>
                </a:solidFill>
                <a:latin typeface="Calibri"/>
              </a:rPr>
              <a:t>P(X=3)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29443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03C"/>
                </a:solidFill>
                <a:latin typeface="Calibri"/>
              </a:rPr>
              <a:t>0.0638 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58200" y="3310128"/>
            <a:ext cx="3291840" cy="347472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49640" y="3337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DC"/>
                </a:solidFill>
                <a:latin typeface="Calibri"/>
              </a:rPr>
              <a:t>P(X=4)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33375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DC"/>
                </a:solidFill>
                <a:latin typeface="Calibri"/>
              </a:rPr>
              <a:t>0.1449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58200" y="3703320"/>
            <a:ext cx="3291840" cy="347472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49640" y="37307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DC"/>
                </a:solidFill>
                <a:latin typeface="Calibri"/>
              </a:rPr>
              <a:t>P(X=5)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37307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DC"/>
                </a:solidFill>
                <a:latin typeface="Calibri"/>
              </a:rPr>
              <a:t>0.2254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58200" y="4096512"/>
            <a:ext cx="3291840" cy="347472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49640" y="41239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DC"/>
                </a:solidFill>
                <a:latin typeface="Calibri"/>
              </a:rPr>
              <a:t>P(X=6)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412394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DC"/>
                </a:solidFill>
                <a:latin typeface="Calibri"/>
              </a:rPr>
              <a:t>0.2447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58200" y="4489704"/>
            <a:ext cx="3291840" cy="347472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49640" y="45171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DC"/>
                </a:solidFill>
                <a:latin typeface="Calibri"/>
              </a:rPr>
              <a:t>P(X=7)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451713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DC"/>
                </a:solidFill>
                <a:latin typeface="Calibri"/>
              </a:rPr>
              <a:t>0.1844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58200" y="4882896"/>
            <a:ext cx="3291840" cy="347472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49640" y="49103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DC"/>
                </a:solidFill>
                <a:latin typeface="Calibri"/>
              </a:rPr>
              <a:t>P(X=8)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491032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DC"/>
                </a:solidFill>
                <a:latin typeface="Calibri"/>
              </a:rPr>
              <a:t>0.0918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58200" y="5276088"/>
            <a:ext cx="3291840" cy="347472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49640" y="5303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DC"/>
                </a:solidFill>
                <a:latin typeface="Calibri"/>
              </a:rPr>
              <a:t>P(X=9)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21240" y="53035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DC"/>
                </a:solidFill>
                <a:latin typeface="Calibri"/>
              </a:rPr>
              <a:t>0.0277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58200" y="5669279"/>
            <a:ext cx="3291840" cy="347472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49640" y="56967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DC"/>
                </a:solidFill>
                <a:latin typeface="Calibri"/>
              </a:rPr>
              <a:t>P(X=10)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21240" y="56967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DC"/>
                </a:solidFill>
                <a:latin typeface="Calibri"/>
              </a:rPr>
              <a:t>0.0038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6263640"/>
            <a:ext cx="11567160" cy="411480"/>
          </a:xfrm>
          <a:prstGeom prst="rect">
            <a:avLst/>
          </a:prstGeom>
          <a:solidFill>
            <a:srgbClr val="2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02920" y="630936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9AA5BB"/>
                </a:solidFill>
                <a:latin typeface="Calibri"/>
              </a:rPr>
              <a:t>p = P(Member) = 565/1000 = 0.565   |   Most likely outcome: k=6 (P=0.2447)   |   P(X=3) = 0.0638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6064CB-B652-FE93-4194-A768F36D1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485F56-267E-CE2A-810E-4526B7DAD40A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550A9B-C44C-3E4C-ECC3-E9045CC60678}"/>
              </a:ext>
            </a:extLst>
          </p:cNvPr>
          <p:cNvSpPr txBox="1"/>
          <p:nvPr/>
        </p:nvSpPr>
        <p:spPr>
          <a:xfrm>
            <a:off x="365760" y="201168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40" b="1" i="0" dirty="0">
                <a:solidFill>
                  <a:srgbClr val="FFFFFF"/>
                </a:solidFill>
                <a:latin typeface="Georgia"/>
              </a:rPr>
              <a:t>Binomial Distribution — Full PMF Chart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265DF7-D176-5F1B-B0F4-EB5B7550F0B5}"/>
              </a:ext>
            </a:extLst>
          </p:cNvPr>
          <p:cNvSpPr txBox="1"/>
          <p:nvPr/>
        </p:nvSpPr>
        <p:spPr>
          <a:xfrm>
            <a:off x="365760" y="685800"/>
            <a:ext cx="11457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0" i="1">
                <a:solidFill>
                  <a:srgbClr val="9AA5BB"/>
                </a:solidFill>
                <a:latin typeface="Calibri"/>
              </a:rPr>
              <a:t>P(X=k) for n=10, p=0.565  ·  dbinom(k, size=10, prob=0.565)  ·  k=3 highlighted in amber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1BD968-C4A1-43A1-2EC9-1AC0341A1B20}"/>
              </a:ext>
            </a:extLst>
          </p:cNvPr>
          <p:cNvSpPr/>
          <p:nvPr/>
        </p:nvSpPr>
        <p:spPr>
          <a:xfrm>
            <a:off x="365760" y="1005840"/>
            <a:ext cx="11457432" cy="22860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C7ED9215-0BB0-C308-3F4C-FFE340730759}"/>
              </a:ext>
            </a:extLst>
          </p:cNvPr>
          <p:cNvGraphicFramePr>
            <a:graphicFrameLocks noGrp="1"/>
          </p:cNvGraphicFramePr>
          <p:nvPr/>
        </p:nvGraphicFramePr>
        <p:xfrm>
          <a:off x="329872" y="1115568"/>
          <a:ext cx="77724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D5BDFAF3-C442-3219-4A62-DF3ED65C2C7A}"/>
              </a:ext>
            </a:extLst>
          </p:cNvPr>
          <p:cNvSpPr/>
          <p:nvPr/>
        </p:nvSpPr>
        <p:spPr>
          <a:xfrm>
            <a:off x="8394192" y="1115568"/>
            <a:ext cx="3474720" cy="5029200"/>
          </a:xfrm>
          <a:prstGeom prst="rect">
            <a:avLst/>
          </a:prstGeom>
          <a:solidFill>
            <a:srgbClr val="222840"/>
          </a:solidFill>
          <a:ln w="635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A401E1-5E31-BB92-5A9A-C656F1D32CFF}"/>
              </a:ext>
            </a:extLst>
          </p:cNvPr>
          <p:cNvSpPr txBox="1"/>
          <p:nvPr/>
        </p:nvSpPr>
        <p:spPr>
          <a:xfrm>
            <a:off x="8549640" y="1261872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60" b="1" i="0">
                <a:solidFill>
                  <a:srgbClr val="E8A03C"/>
                </a:solidFill>
                <a:latin typeface="Calibri"/>
              </a:rPr>
              <a:t>Key Values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17B114-FCB8-8713-2058-6B6638241CC2}"/>
              </a:ext>
            </a:extLst>
          </p:cNvPr>
          <p:cNvSpPr/>
          <p:nvPr/>
        </p:nvSpPr>
        <p:spPr>
          <a:xfrm>
            <a:off x="8458200" y="1737360"/>
            <a:ext cx="3291840" cy="347472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A873F8-DBF3-3100-24DD-890A8EA2565F}"/>
              </a:ext>
            </a:extLst>
          </p:cNvPr>
          <p:cNvSpPr txBox="1"/>
          <p:nvPr/>
        </p:nvSpPr>
        <p:spPr>
          <a:xfrm>
            <a:off x="8549640" y="17647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DC"/>
                </a:solidFill>
                <a:latin typeface="Calibri"/>
              </a:rPr>
              <a:t>P(X=0)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97C814-2D79-17FA-008E-E6FF64A8B520}"/>
              </a:ext>
            </a:extLst>
          </p:cNvPr>
          <p:cNvSpPr txBox="1"/>
          <p:nvPr/>
        </p:nvSpPr>
        <p:spPr>
          <a:xfrm>
            <a:off x="9921240" y="17647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DC"/>
                </a:solidFill>
                <a:latin typeface="Calibri"/>
              </a:rPr>
              <a:t>0.0002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DFE85A-D1DE-8778-5530-ECAB9E4EA5B1}"/>
              </a:ext>
            </a:extLst>
          </p:cNvPr>
          <p:cNvSpPr/>
          <p:nvPr/>
        </p:nvSpPr>
        <p:spPr>
          <a:xfrm>
            <a:off x="8458200" y="2130552"/>
            <a:ext cx="3291840" cy="347472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2E13D1-29ED-EF32-8B9C-CA189FDAFE97}"/>
              </a:ext>
            </a:extLst>
          </p:cNvPr>
          <p:cNvSpPr txBox="1"/>
          <p:nvPr/>
        </p:nvSpPr>
        <p:spPr>
          <a:xfrm>
            <a:off x="8549640" y="21579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DC"/>
                </a:solidFill>
                <a:latin typeface="Calibri"/>
              </a:rPr>
              <a:t>P(X=1)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22E8E8-9921-2767-CF04-0E2F991BEDC8}"/>
              </a:ext>
            </a:extLst>
          </p:cNvPr>
          <p:cNvSpPr txBox="1"/>
          <p:nvPr/>
        </p:nvSpPr>
        <p:spPr>
          <a:xfrm>
            <a:off x="9921240" y="21579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DC"/>
                </a:solidFill>
                <a:latin typeface="Calibri"/>
              </a:rPr>
              <a:t>0.0026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5465EC-11F0-ECD4-1FFA-6CB08E3B40B9}"/>
              </a:ext>
            </a:extLst>
          </p:cNvPr>
          <p:cNvSpPr/>
          <p:nvPr/>
        </p:nvSpPr>
        <p:spPr>
          <a:xfrm>
            <a:off x="8458200" y="2523744"/>
            <a:ext cx="3291840" cy="347472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A329FA-357F-F838-5CB1-EA10038FE096}"/>
              </a:ext>
            </a:extLst>
          </p:cNvPr>
          <p:cNvSpPr txBox="1"/>
          <p:nvPr/>
        </p:nvSpPr>
        <p:spPr>
          <a:xfrm>
            <a:off x="8549640" y="255117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DC"/>
                </a:solidFill>
                <a:latin typeface="Calibri"/>
              </a:rPr>
              <a:t>P(X=2)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D47734-DE08-2CAA-04B5-46D4CF89EA2B}"/>
              </a:ext>
            </a:extLst>
          </p:cNvPr>
          <p:cNvSpPr txBox="1"/>
          <p:nvPr/>
        </p:nvSpPr>
        <p:spPr>
          <a:xfrm>
            <a:off x="9921240" y="255117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DC"/>
                </a:solidFill>
                <a:latin typeface="Calibri"/>
              </a:rPr>
              <a:t>0.0161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8E0C65-481B-5897-1F92-8FF32E27ADD5}"/>
              </a:ext>
            </a:extLst>
          </p:cNvPr>
          <p:cNvSpPr/>
          <p:nvPr/>
        </p:nvSpPr>
        <p:spPr>
          <a:xfrm>
            <a:off x="8458200" y="2916936"/>
            <a:ext cx="3291840" cy="347472"/>
          </a:xfrm>
          <a:prstGeom prst="rect">
            <a:avLst/>
          </a:prstGeom>
          <a:solidFill>
            <a:srgbClr val="B0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FD1069-0E38-4023-E1A9-08506CA096BD}"/>
              </a:ext>
            </a:extLst>
          </p:cNvPr>
          <p:cNvSpPr txBox="1"/>
          <p:nvPr/>
        </p:nvSpPr>
        <p:spPr>
          <a:xfrm>
            <a:off x="8549640" y="29443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A03C"/>
                </a:solidFill>
                <a:latin typeface="Calibri"/>
              </a:rPr>
              <a:t>P(X=3)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AF3289-D143-AFEB-2271-B17889F372A6}"/>
              </a:ext>
            </a:extLst>
          </p:cNvPr>
          <p:cNvSpPr txBox="1"/>
          <p:nvPr/>
        </p:nvSpPr>
        <p:spPr>
          <a:xfrm>
            <a:off x="9921240" y="29443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03C"/>
                </a:solidFill>
                <a:latin typeface="Calibri"/>
              </a:rPr>
              <a:t>0.0638 ★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DCB311C-91CD-3C29-5345-EDE1D0B84617}"/>
              </a:ext>
            </a:extLst>
          </p:cNvPr>
          <p:cNvSpPr/>
          <p:nvPr/>
        </p:nvSpPr>
        <p:spPr>
          <a:xfrm>
            <a:off x="8458200" y="3310128"/>
            <a:ext cx="3291840" cy="347472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F53097-EEE0-0DC6-EC9A-68B9C4AD058D}"/>
              </a:ext>
            </a:extLst>
          </p:cNvPr>
          <p:cNvSpPr txBox="1"/>
          <p:nvPr/>
        </p:nvSpPr>
        <p:spPr>
          <a:xfrm>
            <a:off x="8549640" y="3337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DC"/>
                </a:solidFill>
                <a:latin typeface="Calibri"/>
              </a:rPr>
              <a:t>P(X=4)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9D035B-F998-5606-369A-607E5560A706}"/>
              </a:ext>
            </a:extLst>
          </p:cNvPr>
          <p:cNvSpPr txBox="1"/>
          <p:nvPr/>
        </p:nvSpPr>
        <p:spPr>
          <a:xfrm>
            <a:off x="9921240" y="33375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DC"/>
                </a:solidFill>
                <a:latin typeface="Calibri"/>
              </a:rPr>
              <a:t>0.1449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B113FD8-A208-4D27-F79A-448DC99D5243}"/>
              </a:ext>
            </a:extLst>
          </p:cNvPr>
          <p:cNvSpPr/>
          <p:nvPr/>
        </p:nvSpPr>
        <p:spPr>
          <a:xfrm>
            <a:off x="8458200" y="3703320"/>
            <a:ext cx="3291840" cy="347472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782A305-95A0-2F5A-752C-28EF2A61B69C}"/>
              </a:ext>
            </a:extLst>
          </p:cNvPr>
          <p:cNvSpPr txBox="1"/>
          <p:nvPr/>
        </p:nvSpPr>
        <p:spPr>
          <a:xfrm>
            <a:off x="8549640" y="37307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DC"/>
                </a:solidFill>
                <a:latin typeface="Calibri"/>
              </a:rPr>
              <a:t>P(X=5)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3CDECC-5728-60E4-A247-505D1DB7F1C8}"/>
              </a:ext>
            </a:extLst>
          </p:cNvPr>
          <p:cNvSpPr txBox="1"/>
          <p:nvPr/>
        </p:nvSpPr>
        <p:spPr>
          <a:xfrm>
            <a:off x="9921240" y="37307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DC"/>
                </a:solidFill>
                <a:latin typeface="Calibri"/>
              </a:rPr>
              <a:t>0.2254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D9F000F-ADBA-492A-619E-6C71AF3D8B83}"/>
              </a:ext>
            </a:extLst>
          </p:cNvPr>
          <p:cNvSpPr/>
          <p:nvPr/>
        </p:nvSpPr>
        <p:spPr>
          <a:xfrm>
            <a:off x="8458200" y="4096512"/>
            <a:ext cx="3291840" cy="347472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B50EB5D-5E12-F329-F18C-9D74588C530E}"/>
              </a:ext>
            </a:extLst>
          </p:cNvPr>
          <p:cNvSpPr txBox="1"/>
          <p:nvPr/>
        </p:nvSpPr>
        <p:spPr>
          <a:xfrm>
            <a:off x="8549640" y="41239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DC"/>
                </a:solidFill>
                <a:latin typeface="Calibri"/>
              </a:rPr>
              <a:t>P(X=6)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59D55A-1586-0DDB-11F8-685EFD578BEE}"/>
              </a:ext>
            </a:extLst>
          </p:cNvPr>
          <p:cNvSpPr txBox="1"/>
          <p:nvPr/>
        </p:nvSpPr>
        <p:spPr>
          <a:xfrm>
            <a:off x="9921240" y="412394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DC"/>
                </a:solidFill>
                <a:latin typeface="Calibri"/>
              </a:rPr>
              <a:t>0.2447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D0DE3B-B3DE-0198-0BAB-30B8C214104C}"/>
              </a:ext>
            </a:extLst>
          </p:cNvPr>
          <p:cNvSpPr/>
          <p:nvPr/>
        </p:nvSpPr>
        <p:spPr>
          <a:xfrm>
            <a:off x="8458200" y="4489704"/>
            <a:ext cx="3291840" cy="347472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4348B51-8FC6-12EC-4DC5-DD554E2EE6E4}"/>
              </a:ext>
            </a:extLst>
          </p:cNvPr>
          <p:cNvSpPr txBox="1"/>
          <p:nvPr/>
        </p:nvSpPr>
        <p:spPr>
          <a:xfrm>
            <a:off x="8549640" y="45171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DC"/>
                </a:solidFill>
                <a:latin typeface="Calibri"/>
              </a:rPr>
              <a:t>P(X=7)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E42BD1-9D52-E00B-2355-78F3BF8EAE5B}"/>
              </a:ext>
            </a:extLst>
          </p:cNvPr>
          <p:cNvSpPr txBox="1"/>
          <p:nvPr/>
        </p:nvSpPr>
        <p:spPr>
          <a:xfrm>
            <a:off x="9921240" y="451713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DC"/>
                </a:solidFill>
                <a:latin typeface="Calibri"/>
              </a:rPr>
              <a:t>0.1844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C338AD6-170C-1F36-A83B-0D89ABF588A7}"/>
              </a:ext>
            </a:extLst>
          </p:cNvPr>
          <p:cNvSpPr/>
          <p:nvPr/>
        </p:nvSpPr>
        <p:spPr>
          <a:xfrm>
            <a:off x="8458200" y="4882896"/>
            <a:ext cx="3291840" cy="347472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8689D38-05E4-88B8-31CB-945BAB0EDDCD}"/>
              </a:ext>
            </a:extLst>
          </p:cNvPr>
          <p:cNvSpPr txBox="1"/>
          <p:nvPr/>
        </p:nvSpPr>
        <p:spPr>
          <a:xfrm>
            <a:off x="8549640" y="49103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DC"/>
                </a:solidFill>
                <a:latin typeface="Calibri"/>
              </a:rPr>
              <a:t>P(X=8)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BD81A96-02E4-F8A4-3EF9-1D9952CFFA01}"/>
              </a:ext>
            </a:extLst>
          </p:cNvPr>
          <p:cNvSpPr txBox="1"/>
          <p:nvPr/>
        </p:nvSpPr>
        <p:spPr>
          <a:xfrm>
            <a:off x="9921240" y="491032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DC"/>
                </a:solidFill>
                <a:latin typeface="Calibri"/>
              </a:rPr>
              <a:t>0.0918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CB37E55-EB0E-68CC-E3F9-63CA6FBBA0B0}"/>
              </a:ext>
            </a:extLst>
          </p:cNvPr>
          <p:cNvSpPr/>
          <p:nvPr/>
        </p:nvSpPr>
        <p:spPr>
          <a:xfrm>
            <a:off x="8458200" y="5276088"/>
            <a:ext cx="3291840" cy="347472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21B771A-2798-9EC2-BBB1-2F8D4F19838D}"/>
              </a:ext>
            </a:extLst>
          </p:cNvPr>
          <p:cNvSpPr txBox="1"/>
          <p:nvPr/>
        </p:nvSpPr>
        <p:spPr>
          <a:xfrm>
            <a:off x="8549640" y="5303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DC"/>
                </a:solidFill>
                <a:latin typeface="Calibri"/>
              </a:rPr>
              <a:t>P(X=9)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82CF625-584E-FAB9-8D4A-FC7C480C8417}"/>
              </a:ext>
            </a:extLst>
          </p:cNvPr>
          <p:cNvSpPr txBox="1"/>
          <p:nvPr/>
        </p:nvSpPr>
        <p:spPr>
          <a:xfrm>
            <a:off x="9921240" y="53035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DC"/>
                </a:solidFill>
                <a:latin typeface="Calibri"/>
              </a:rPr>
              <a:t>0.0277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8A8EE85-C2F2-A8A4-63C0-ABDC8228EC2B}"/>
              </a:ext>
            </a:extLst>
          </p:cNvPr>
          <p:cNvSpPr/>
          <p:nvPr/>
        </p:nvSpPr>
        <p:spPr>
          <a:xfrm>
            <a:off x="8458200" y="5669279"/>
            <a:ext cx="3291840" cy="347472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B7B5BD4-E17B-5722-E7ED-99EF970EFA7B}"/>
              </a:ext>
            </a:extLst>
          </p:cNvPr>
          <p:cNvSpPr txBox="1"/>
          <p:nvPr/>
        </p:nvSpPr>
        <p:spPr>
          <a:xfrm>
            <a:off x="8549640" y="56967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DC"/>
                </a:solidFill>
                <a:latin typeface="Calibri"/>
              </a:rPr>
              <a:t>P(X=10)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175A00E-A73D-949E-77C8-FBD4C7818BA0}"/>
              </a:ext>
            </a:extLst>
          </p:cNvPr>
          <p:cNvSpPr txBox="1"/>
          <p:nvPr/>
        </p:nvSpPr>
        <p:spPr>
          <a:xfrm>
            <a:off x="9921240" y="56967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DC"/>
                </a:solidFill>
                <a:latin typeface="Calibri"/>
              </a:rPr>
              <a:t>0.0038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8F41255-CB59-AE50-BA5F-E17692005785}"/>
              </a:ext>
            </a:extLst>
          </p:cNvPr>
          <p:cNvSpPr/>
          <p:nvPr/>
        </p:nvSpPr>
        <p:spPr>
          <a:xfrm>
            <a:off x="320040" y="6263640"/>
            <a:ext cx="11567160" cy="411480"/>
          </a:xfrm>
          <a:prstGeom prst="rect">
            <a:avLst/>
          </a:prstGeom>
          <a:solidFill>
            <a:srgbClr val="2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84DCC16-57CA-288F-3AD6-2BB007B4409A}"/>
              </a:ext>
            </a:extLst>
          </p:cNvPr>
          <p:cNvSpPr txBox="1"/>
          <p:nvPr/>
        </p:nvSpPr>
        <p:spPr>
          <a:xfrm>
            <a:off x="502920" y="630936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9AA5BB"/>
                </a:solidFill>
                <a:latin typeface="Calibri"/>
              </a:rPr>
              <a:t>p = P(Member) = 565/1000 = 0.565   |   Most likely outcome: k=6 (P=0.2447)   |   P(X=3) = 0.0638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64204ED-C9FE-CFED-D2BC-150D23030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21980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11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54864"/>
          </a:xfrm>
          <a:prstGeom prst="rect">
            <a:avLst/>
          </a:prstGeom>
          <a:solidFill>
            <a:srgbClr val="2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28600" y="164592"/>
            <a:ext cx="384048" cy="384048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9202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6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7160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9. Continuous Distributions — Normal &amp; Uniform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713232"/>
            <a:ext cx="11457432" cy="22860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93984" y="1024128"/>
            <a:ext cx="5623560" cy="5596128"/>
          </a:xfrm>
          <a:prstGeom prst="rect">
            <a:avLst/>
          </a:prstGeom>
          <a:solidFill>
            <a:srgbClr val="222840"/>
          </a:solidFill>
          <a:ln w="635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72200" y="1024128"/>
            <a:ext cx="5715000" cy="5596128"/>
          </a:xfrm>
          <a:prstGeom prst="rect">
            <a:avLst/>
          </a:prstGeom>
          <a:solidFill>
            <a:srgbClr val="222840"/>
          </a:solidFill>
          <a:ln w="635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" y="114300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A03C"/>
                </a:solidFill>
                <a:latin typeface="Georgia"/>
              </a:rPr>
              <a:t>Normal Distribution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554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Mathematics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874519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40" b="0" i="1">
                <a:solidFill>
                  <a:srgbClr val="E8E4DC"/>
                </a:solidFill>
                <a:latin typeface="Georgia"/>
              </a:rPr>
              <a:t>f(x) = (1/σ√2π) · e^[-(x-μ)²/2σ²]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2860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1">
                <a:solidFill>
                  <a:srgbClr val="E8A03C"/>
                </a:solidFill>
                <a:latin typeface="Calibri"/>
              </a:rPr>
              <a:t>μ = 322.97   ·   σ = 245.89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670048"/>
            <a:ext cx="5532120" cy="22860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27614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Code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7764" y="3236976"/>
            <a:ext cx="5321808" cy="804672"/>
          </a:xfrm>
          <a:prstGeom prst="rect">
            <a:avLst/>
          </a:prstGeom>
          <a:solidFill>
            <a:srgbClr val="121626"/>
          </a:solidFill>
          <a:ln w="635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457200" y="3200400"/>
            <a:ext cx="411480" cy="256032"/>
          </a:xfrm>
          <a:prstGeom prst="rect">
            <a:avLst/>
          </a:prstGeom>
          <a:solidFill>
            <a:srgbClr val="2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3200400"/>
            <a:ext cx="3840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C8BA8"/>
                </a:solidFill>
                <a:latin typeface="Calibri"/>
              </a:rPr>
              <a:t>&lt;&gt;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6252" y="3445002"/>
            <a:ext cx="5047488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82AAFF"/>
                </a:solidFill>
                <a:latin typeface="Courier New"/>
              </a:rPr>
              <a:t>dnorm</a:t>
            </a:r>
            <a:r>
              <a:rPr sz="1200" b="0" i="0" dirty="0">
                <a:solidFill>
                  <a:srgbClr val="82AAFF"/>
                </a:solidFill>
                <a:latin typeface="Courier New"/>
              </a:rPr>
              <a:t>(</a:t>
            </a:r>
            <a:r>
              <a:rPr sz="1200" b="0" i="0" dirty="0" err="1">
                <a:solidFill>
                  <a:srgbClr val="82AAFF"/>
                </a:solidFill>
                <a:latin typeface="Courier New"/>
              </a:rPr>
              <a:t>x_norm</a:t>
            </a:r>
            <a:r>
              <a:rPr sz="1200" b="0" i="0" dirty="0">
                <a:solidFill>
                  <a:srgbClr val="82AAFF"/>
                </a:solidFill>
                <a:latin typeface="Courier New"/>
              </a:rPr>
              <a:t>, </a:t>
            </a:r>
            <a:r>
              <a:rPr sz="1200" b="0" i="0" dirty="0" err="1">
                <a:solidFill>
                  <a:srgbClr val="82AAFF"/>
                </a:solidFill>
                <a:latin typeface="Courier New"/>
              </a:rPr>
              <a:t>mean_sales</a:t>
            </a:r>
            <a:r>
              <a:rPr sz="1200" b="0" i="0" dirty="0">
                <a:solidFill>
                  <a:srgbClr val="82AAFF"/>
                </a:solidFill>
                <a:latin typeface="Courier New"/>
              </a:rPr>
              <a:t>, </a:t>
            </a:r>
            <a:r>
              <a:rPr sz="1200" b="0" i="0" dirty="0" err="1">
                <a:solidFill>
                  <a:srgbClr val="82AAFF"/>
                </a:solidFill>
                <a:latin typeface="Courier New"/>
              </a:rPr>
              <a:t>sd_sales</a:t>
            </a:r>
            <a:r>
              <a:rPr sz="1200" b="0" i="0" dirty="0">
                <a:solidFill>
                  <a:srgbClr val="82AAFF"/>
                </a:solidFill>
                <a:latin typeface="Courier New"/>
              </a:rPr>
              <a:t>)
hist(</a:t>
            </a:r>
            <a:r>
              <a:rPr sz="1200" b="0" i="0" dirty="0" err="1">
                <a:solidFill>
                  <a:srgbClr val="82AAFF"/>
                </a:solidFill>
                <a:latin typeface="Courier New"/>
              </a:rPr>
              <a:t>df$Sales</a:t>
            </a:r>
            <a:r>
              <a:rPr sz="1200" b="0" i="0" dirty="0">
                <a:solidFill>
                  <a:srgbClr val="82AAFF"/>
                </a:solidFill>
                <a:latin typeface="Courier New"/>
              </a:rPr>
              <a:t>, probability=TRUE)
lines(</a:t>
            </a:r>
            <a:r>
              <a:rPr sz="1200" b="0" i="0" dirty="0" err="1">
                <a:solidFill>
                  <a:srgbClr val="82AAFF"/>
                </a:solidFill>
                <a:latin typeface="Courier New"/>
              </a:rPr>
              <a:t>x_norm</a:t>
            </a:r>
            <a:r>
              <a:rPr sz="1200" b="0" i="0" dirty="0">
                <a:solidFill>
                  <a:srgbClr val="82AAFF"/>
                </a:solidFill>
                <a:latin typeface="Courier New"/>
              </a:rPr>
              <a:t>, </a:t>
            </a:r>
            <a:r>
              <a:rPr sz="1200" b="0" i="0" dirty="0" err="1">
                <a:solidFill>
                  <a:srgbClr val="82AAFF"/>
                </a:solidFill>
                <a:latin typeface="Courier New"/>
              </a:rPr>
              <a:t>y_norm</a:t>
            </a:r>
            <a:r>
              <a:rPr sz="1200" b="0" i="0" dirty="0">
                <a:solidFill>
                  <a:srgbClr val="82AAFF"/>
                </a:solidFill>
                <a:latin typeface="Courier New"/>
              </a:rPr>
              <a:t>, col='red')</a:t>
            </a:r>
          </a:p>
        </p:txBody>
      </p:sp>
      <p:sp>
        <p:nvSpPr>
          <p:cNvPr id="20" name="Rectangle 19"/>
          <p:cNvSpPr/>
          <p:nvPr/>
        </p:nvSpPr>
        <p:spPr>
          <a:xfrm flipV="1">
            <a:off x="397764" y="4055363"/>
            <a:ext cx="5244465" cy="45719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064" y="407174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Interpretation</a:t>
            </a:r>
          </a:p>
        </p:txBody>
      </p:sp>
      <p:sp>
        <p:nvSpPr>
          <p:cNvPr id="22" name="Oval 21"/>
          <p:cNvSpPr/>
          <p:nvPr/>
        </p:nvSpPr>
        <p:spPr>
          <a:xfrm>
            <a:off x="475488" y="4462272"/>
            <a:ext cx="137160" cy="137160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40740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Shows theoretical comparison with sales data.</a:t>
            </a:r>
          </a:p>
        </p:txBody>
      </p:sp>
      <p:sp>
        <p:nvSpPr>
          <p:cNvPr id="24" name="Oval 23"/>
          <p:cNvSpPr/>
          <p:nvPr/>
        </p:nvSpPr>
        <p:spPr>
          <a:xfrm>
            <a:off x="475488" y="4937759"/>
            <a:ext cx="137160" cy="137160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88289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Data approximately bell-shaped, slightly skewed.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5321808"/>
            <a:ext cx="2514600" cy="594360"/>
          </a:xfrm>
          <a:prstGeom prst="rect">
            <a:avLst/>
          </a:prstGeom>
          <a:solidFill>
            <a:srgbClr val="1A1E35"/>
          </a:solidFill>
          <a:ln w="508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53766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9AA5BB"/>
                </a:solidFill>
                <a:latin typeface="Calibri"/>
              </a:rPr>
              <a:t>μ ± 1σ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623560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B59A"/>
                </a:solidFill>
                <a:latin typeface="Calibri"/>
              </a:rPr>
              <a:t>₹77–₹569  (68%)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81528" y="5321808"/>
            <a:ext cx="2514600" cy="594360"/>
          </a:xfrm>
          <a:prstGeom prst="rect">
            <a:avLst/>
          </a:prstGeom>
          <a:solidFill>
            <a:srgbClr val="1A1E35"/>
          </a:solidFill>
          <a:ln w="508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00400" y="53766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9AA5BB"/>
                </a:solidFill>
                <a:latin typeface="Calibri"/>
              </a:rPr>
              <a:t>μ ± 2σ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5623560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B59A"/>
                </a:solidFill>
                <a:latin typeface="Calibri"/>
              </a:rPr>
              <a:t>₹0–₹815  (95%)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114300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B59A"/>
                </a:solidFill>
                <a:latin typeface="Georgia"/>
              </a:rPr>
              <a:t>Uniform Distribution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1554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Concept</a:t>
            </a:r>
          </a:p>
        </p:txBody>
      </p:sp>
      <p:sp>
        <p:nvSpPr>
          <p:cNvPr id="34" name="Oval 33"/>
          <p:cNvSpPr/>
          <p:nvPr/>
        </p:nvSpPr>
        <p:spPr>
          <a:xfrm>
            <a:off x="6355080" y="1929384"/>
            <a:ext cx="137160" cy="137160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11112" y="187451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Equal probability over any interval.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2395728"/>
            <a:ext cx="5715000" cy="22860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55080" y="24871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Mathematics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27889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60" b="0" i="1">
                <a:solidFill>
                  <a:srgbClr val="E8E4DC"/>
                </a:solidFill>
                <a:latin typeface="Georgia"/>
              </a:rPr>
              <a:t>f(x) = 1 / (b – a)   for  a ≤ x ≤ 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3246120"/>
            <a:ext cx="5715000" cy="22860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55080" y="3337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Code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9632" y="3675887"/>
            <a:ext cx="5486400" cy="804672"/>
          </a:xfrm>
          <a:prstGeom prst="rect">
            <a:avLst/>
          </a:prstGeom>
          <a:solidFill>
            <a:srgbClr val="121626"/>
          </a:solidFill>
          <a:ln w="635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309360" y="3785615"/>
            <a:ext cx="411480" cy="256032"/>
          </a:xfrm>
          <a:prstGeom prst="rect">
            <a:avLst/>
          </a:prstGeom>
          <a:solidFill>
            <a:srgbClr val="2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27648" y="3785615"/>
            <a:ext cx="3840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C8BA8"/>
                </a:solidFill>
                <a:latin typeface="Calibri"/>
              </a:rPr>
              <a:t>&lt;&gt; 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15100" y="3991356"/>
            <a:ext cx="521208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82AAFF"/>
                </a:solidFill>
                <a:latin typeface="Courier New"/>
              </a:rPr>
              <a:t>dunif</a:t>
            </a:r>
            <a:r>
              <a:rPr sz="1200" b="0" i="0" dirty="0">
                <a:solidFill>
                  <a:srgbClr val="82AAFF"/>
                </a:solidFill>
                <a:latin typeface="Courier New"/>
              </a:rPr>
              <a:t>(500, min=0, max=1000)
# Result: 0.001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72200" y="4572000"/>
            <a:ext cx="5715000" cy="22860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55080" y="4663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Real-life</a:t>
            </a:r>
          </a:p>
        </p:txBody>
      </p:sp>
      <p:sp>
        <p:nvSpPr>
          <p:cNvPr id="47" name="Oval 46"/>
          <p:cNvSpPr/>
          <p:nvPr/>
        </p:nvSpPr>
        <p:spPr>
          <a:xfrm>
            <a:off x="6355080" y="5038344"/>
            <a:ext cx="137160" cy="137160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611112" y="4983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Used when no outcome is favored.</a:t>
            </a:r>
          </a:p>
        </p:txBody>
      </p:sp>
      <p:sp>
        <p:nvSpPr>
          <p:cNvPr id="49" name="Oval 48"/>
          <p:cNvSpPr/>
          <p:nvPr/>
        </p:nvSpPr>
        <p:spPr>
          <a:xfrm>
            <a:off x="6355080" y="5513832"/>
            <a:ext cx="137160" cy="137160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611112" y="54589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Theoretical baseline comparison.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91072" y="5715000"/>
            <a:ext cx="5468112" cy="621792"/>
          </a:xfrm>
          <a:prstGeom prst="rect">
            <a:avLst/>
          </a:prstGeom>
          <a:solidFill>
            <a:srgbClr val="1A1E35"/>
          </a:solidFill>
          <a:ln w="508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46520" y="5760720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AA5BB"/>
                </a:solidFill>
                <a:latin typeface="Calibri"/>
              </a:rPr>
              <a:t>dunif(500, min=0, max=1000) = 0.001
Every value equally likely — used as reference.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3FB040-865E-BA24-28C1-667AFB866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F5F55A-99B3-8860-B69E-5FC565AC38F0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B9F390-8078-4560-17B4-0C02706CBB9A}"/>
              </a:ext>
            </a:extLst>
          </p:cNvPr>
          <p:cNvSpPr/>
          <p:nvPr/>
        </p:nvSpPr>
        <p:spPr>
          <a:xfrm>
            <a:off x="73152" y="0"/>
            <a:ext cx="12115800" cy="54864"/>
          </a:xfrm>
          <a:prstGeom prst="rect">
            <a:avLst/>
          </a:prstGeom>
          <a:solidFill>
            <a:srgbClr val="2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3DD9B4D-67C3-1FFC-0C14-77DEBF21FA4B}"/>
              </a:ext>
            </a:extLst>
          </p:cNvPr>
          <p:cNvSpPr/>
          <p:nvPr/>
        </p:nvSpPr>
        <p:spPr>
          <a:xfrm>
            <a:off x="228600" y="164592"/>
            <a:ext cx="384048" cy="384048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9DEE93-934F-EC3E-CAAE-1BAEDE7AE226}"/>
              </a:ext>
            </a:extLst>
          </p:cNvPr>
          <p:cNvSpPr txBox="1"/>
          <p:nvPr/>
        </p:nvSpPr>
        <p:spPr>
          <a:xfrm>
            <a:off x="228600" y="19202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6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CEBC70-6254-F59A-46FC-0B8EEC8B54A7}"/>
              </a:ext>
            </a:extLst>
          </p:cNvPr>
          <p:cNvSpPr txBox="1"/>
          <p:nvPr/>
        </p:nvSpPr>
        <p:spPr>
          <a:xfrm>
            <a:off x="749808" y="137160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9. Continuous Distributions — Normal &amp; Uniform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A36DFA-D857-9870-0CB1-53EDBDC2A834}"/>
              </a:ext>
            </a:extLst>
          </p:cNvPr>
          <p:cNvSpPr/>
          <p:nvPr/>
        </p:nvSpPr>
        <p:spPr>
          <a:xfrm>
            <a:off x="365760" y="713232"/>
            <a:ext cx="11457432" cy="22860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D99982-69D7-2FC9-0B37-EFDD839EB016}"/>
              </a:ext>
            </a:extLst>
          </p:cNvPr>
          <p:cNvSpPr/>
          <p:nvPr/>
        </p:nvSpPr>
        <p:spPr>
          <a:xfrm>
            <a:off x="293984" y="1024128"/>
            <a:ext cx="5623560" cy="5596128"/>
          </a:xfrm>
          <a:prstGeom prst="rect">
            <a:avLst/>
          </a:prstGeom>
          <a:solidFill>
            <a:srgbClr val="222840"/>
          </a:solidFill>
          <a:ln w="635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EAF1BE-C6E6-0139-817F-1B1D38500CC8}"/>
              </a:ext>
            </a:extLst>
          </p:cNvPr>
          <p:cNvSpPr/>
          <p:nvPr/>
        </p:nvSpPr>
        <p:spPr>
          <a:xfrm>
            <a:off x="6172200" y="1024128"/>
            <a:ext cx="5715000" cy="5596128"/>
          </a:xfrm>
          <a:prstGeom prst="rect">
            <a:avLst/>
          </a:prstGeom>
          <a:solidFill>
            <a:srgbClr val="222840"/>
          </a:solidFill>
          <a:ln w="635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352C93-2318-72D2-682D-9F5F92982727}"/>
              </a:ext>
            </a:extLst>
          </p:cNvPr>
          <p:cNvSpPr txBox="1"/>
          <p:nvPr/>
        </p:nvSpPr>
        <p:spPr>
          <a:xfrm>
            <a:off x="475488" y="114300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A03C"/>
                </a:solidFill>
                <a:latin typeface="Georgia"/>
              </a:rPr>
              <a:t>Normal Distribution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44445B-BCD1-0CB8-8144-B2EE48C767AF}"/>
              </a:ext>
            </a:extLst>
          </p:cNvPr>
          <p:cNvSpPr txBox="1"/>
          <p:nvPr/>
        </p:nvSpPr>
        <p:spPr>
          <a:xfrm>
            <a:off x="475488" y="1554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Mathematics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73A5A9-6A30-8C49-BE71-74901FC47ED8}"/>
              </a:ext>
            </a:extLst>
          </p:cNvPr>
          <p:cNvSpPr txBox="1"/>
          <p:nvPr/>
        </p:nvSpPr>
        <p:spPr>
          <a:xfrm>
            <a:off x="475488" y="1874519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40" b="0" i="1">
                <a:solidFill>
                  <a:srgbClr val="E8E4DC"/>
                </a:solidFill>
                <a:latin typeface="Georgia"/>
              </a:rPr>
              <a:t>f(x) = (1/σ√2π) · e^[-(x-μ)²/2σ²]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481A46-E7D3-17AA-EB61-32A117BEEDD2}"/>
              </a:ext>
            </a:extLst>
          </p:cNvPr>
          <p:cNvSpPr txBox="1"/>
          <p:nvPr/>
        </p:nvSpPr>
        <p:spPr>
          <a:xfrm>
            <a:off x="475488" y="22860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1">
                <a:solidFill>
                  <a:srgbClr val="E8A03C"/>
                </a:solidFill>
                <a:latin typeface="Calibri"/>
              </a:rPr>
              <a:t>μ = 322.97   ·   σ = 245.89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57B624-7774-2C1D-A6EB-77FCF475FBB5}"/>
              </a:ext>
            </a:extLst>
          </p:cNvPr>
          <p:cNvSpPr/>
          <p:nvPr/>
        </p:nvSpPr>
        <p:spPr>
          <a:xfrm>
            <a:off x="320040" y="2670048"/>
            <a:ext cx="5532120" cy="22860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7F1B81-4E0B-8703-69D3-F436A74A14A6}"/>
              </a:ext>
            </a:extLst>
          </p:cNvPr>
          <p:cNvSpPr txBox="1"/>
          <p:nvPr/>
        </p:nvSpPr>
        <p:spPr>
          <a:xfrm>
            <a:off x="475488" y="27614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Code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FA57E1-6B2C-6F0C-5E27-39BE542E5D9D}"/>
              </a:ext>
            </a:extLst>
          </p:cNvPr>
          <p:cNvSpPr/>
          <p:nvPr/>
        </p:nvSpPr>
        <p:spPr>
          <a:xfrm>
            <a:off x="397764" y="3236976"/>
            <a:ext cx="5321808" cy="804672"/>
          </a:xfrm>
          <a:prstGeom prst="rect">
            <a:avLst/>
          </a:prstGeom>
          <a:solidFill>
            <a:srgbClr val="121626"/>
          </a:solidFill>
          <a:ln w="635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D6D259-C51D-5D76-844F-57004F32699A}"/>
              </a:ext>
            </a:extLst>
          </p:cNvPr>
          <p:cNvSpPr/>
          <p:nvPr/>
        </p:nvSpPr>
        <p:spPr>
          <a:xfrm>
            <a:off x="457200" y="3200400"/>
            <a:ext cx="411480" cy="256032"/>
          </a:xfrm>
          <a:prstGeom prst="rect">
            <a:avLst/>
          </a:prstGeom>
          <a:solidFill>
            <a:srgbClr val="2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3F488E-4F93-ADEF-9104-3E80800574B1}"/>
              </a:ext>
            </a:extLst>
          </p:cNvPr>
          <p:cNvSpPr txBox="1"/>
          <p:nvPr/>
        </p:nvSpPr>
        <p:spPr>
          <a:xfrm>
            <a:off x="475488" y="3200400"/>
            <a:ext cx="3840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C8BA8"/>
                </a:solidFill>
                <a:latin typeface="Calibri"/>
              </a:rPr>
              <a:t>&lt;&gt; 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C6C75E-FFC8-CF16-2C44-6FFCD9AC12E1}"/>
              </a:ext>
            </a:extLst>
          </p:cNvPr>
          <p:cNvSpPr txBox="1"/>
          <p:nvPr/>
        </p:nvSpPr>
        <p:spPr>
          <a:xfrm>
            <a:off x="496252" y="3445002"/>
            <a:ext cx="5047488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82AAFF"/>
                </a:solidFill>
                <a:latin typeface="Courier New"/>
              </a:rPr>
              <a:t>dnorm</a:t>
            </a:r>
            <a:r>
              <a:rPr sz="1200" b="0" i="0" dirty="0">
                <a:solidFill>
                  <a:srgbClr val="82AAFF"/>
                </a:solidFill>
                <a:latin typeface="Courier New"/>
              </a:rPr>
              <a:t>(</a:t>
            </a:r>
            <a:r>
              <a:rPr sz="1200" b="0" i="0" dirty="0" err="1">
                <a:solidFill>
                  <a:srgbClr val="82AAFF"/>
                </a:solidFill>
                <a:latin typeface="Courier New"/>
              </a:rPr>
              <a:t>x_norm</a:t>
            </a:r>
            <a:r>
              <a:rPr sz="1200" b="0" i="0" dirty="0">
                <a:solidFill>
                  <a:srgbClr val="82AAFF"/>
                </a:solidFill>
                <a:latin typeface="Courier New"/>
              </a:rPr>
              <a:t>, </a:t>
            </a:r>
            <a:r>
              <a:rPr sz="1200" b="0" i="0" dirty="0" err="1">
                <a:solidFill>
                  <a:srgbClr val="82AAFF"/>
                </a:solidFill>
                <a:latin typeface="Courier New"/>
              </a:rPr>
              <a:t>mean_sales</a:t>
            </a:r>
            <a:r>
              <a:rPr sz="1200" b="0" i="0" dirty="0">
                <a:solidFill>
                  <a:srgbClr val="82AAFF"/>
                </a:solidFill>
                <a:latin typeface="Courier New"/>
              </a:rPr>
              <a:t>, </a:t>
            </a:r>
            <a:r>
              <a:rPr sz="1200" b="0" i="0" dirty="0" err="1">
                <a:solidFill>
                  <a:srgbClr val="82AAFF"/>
                </a:solidFill>
                <a:latin typeface="Courier New"/>
              </a:rPr>
              <a:t>sd_sales</a:t>
            </a:r>
            <a:r>
              <a:rPr sz="1200" b="0" i="0" dirty="0">
                <a:solidFill>
                  <a:srgbClr val="82AAFF"/>
                </a:solidFill>
                <a:latin typeface="Courier New"/>
              </a:rPr>
              <a:t>)
hist(</a:t>
            </a:r>
            <a:r>
              <a:rPr sz="1200" b="0" i="0" dirty="0" err="1">
                <a:solidFill>
                  <a:srgbClr val="82AAFF"/>
                </a:solidFill>
                <a:latin typeface="Courier New"/>
              </a:rPr>
              <a:t>df$Sales</a:t>
            </a:r>
            <a:r>
              <a:rPr sz="1200" b="0" i="0" dirty="0">
                <a:solidFill>
                  <a:srgbClr val="82AAFF"/>
                </a:solidFill>
                <a:latin typeface="Courier New"/>
              </a:rPr>
              <a:t>, probability=TRUE)
lines(</a:t>
            </a:r>
            <a:r>
              <a:rPr sz="1200" b="0" i="0" dirty="0" err="1">
                <a:solidFill>
                  <a:srgbClr val="82AAFF"/>
                </a:solidFill>
                <a:latin typeface="Courier New"/>
              </a:rPr>
              <a:t>x_norm</a:t>
            </a:r>
            <a:r>
              <a:rPr sz="1200" b="0" i="0" dirty="0">
                <a:solidFill>
                  <a:srgbClr val="82AAFF"/>
                </a:solidFill>
                <a:latin typeface="Courier New"/>
              </a:rPr>
              <a:t>, </a:t>
            </a:r>
            <a:r>
              <a:rPr sz="1200" b="0" i="0" dirty="0" err="1">
                <a:solidFill>
                  <a:srgbClr val="82AAFF"/>
                </a:solidFill>
                <a:latin typeface="Courier New"/>
              </a:rPr>
              <a:t>y_norm</a:t>
            </a:r>
            <a:r>
              <a:rPr sz="1200" b="0" i="0" dirty="0">
                <a:solidFill>
                  <a:srgbClr val="82AAFF"/>
                </a:solidFill>
                <a:latin typeface="Courier New"/>
              </a:rPr>
              <a:t>, col='red')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637E915-AA5B-D752-6BD0-4D398ED8BABA}"/>
              </a:ext>
            </a:extLst>
          </p:cNvPr>
          <p:cNvSpPr/>
          <p:nvPr/>
        </p:nvSpPr>
        <p:spPr>
          <a:xfrm flipV="1">
            <a:off x="397764" y="4055363"/>
            <a:ext cx="5244465" cy="45719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F33836-792F-46CD-EB58-1A4310EDAB5C}"/>
              </a:ext>
            </a:extLst>
          </p:cNvPr>
          <p:cNvSpPr txBox="1"/>
          <p:nvPr/>
        </p:nvSpPr>
        <p:spPr>
          <a:xfrm>
            <a:off x="512064" y="407174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Interpretation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40D62DB-7AB6-3BBC-542B-2DD9894518BA}"/>
              </a:ext>
            </a:extLst>
          </p:cNvPr>
          <p:cNvSpPr/>
          <p:nvPr/>
        </p:nvSpPr>
        <p:spPr>
          <a:xfrm>
            <a:off x="475488" y="4462272"/>
            <a:ext cx="137160" cy="137160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953C9A-8EB5-B459-5362-A1F79201C51A}"/>
              </a:ext>
            </a:extLst>
          </p:cNvPr>
          <p:cNvSpPr txBox="1"/>
          <p:nvPr/>
        </p:nvSpPr>
        <p:spPr>
          <a:xfrm>
            <a:off x="731520" y="440740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Shows theoretical comparison with sales data.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5F34ED3-ECC6-4998-C562-7733F17D3CB0}"/>
              </a:ext>
            </a:extLst>
          </p:cNvPr>
          <p:cNvSpPr/>
          <p:nvPr/>
        </p:nvSpPr>
        <p:spPr>
          <a:xfrm>
            <a:off x="475488" y="4937759"/>
            <a:ext cx="137160" cy="137160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C46D4B-33C2-DA59-163B-9FF1AF3B754C}"/>
              </a:ext>
            </a:extLst>
          </p:cNvPr>
          <p:cNvSpPr txBox="1"/>
          <p:nvPr/>
        </p:nvSpPr>
        <p:spPr>
          <a:xfrm>
            <a:off x="731520" y="488289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Data approximately bell-shaped, slightly skewed.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BA13404-DBC5-CAED-DE80-A0671057713C}"/>
              </a:ext>
            </a:extLst>
          </p:cNvPr>
          <p:cNvSpPr/>
          <p:nvPr/>
        </p:nvSpPr>
        <p:spPr>
          <a:xfrm>
            <a:off x="384048" y="5321808"/>
            <a:ext cx="2514600" cy="594360"/>
          </a:xfrm>
          <a:prstGeom prst="rect">
            <a:avLst/>
          </a:prstGeom>
          <a:solidFill>
            <a:srgbClr val="1A1E35"/>
          </a:solidFill>
          <a:ln w="508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CFC846-C21F-0A96-95F4-48AFD6E406A1}"/>
              </a:ext>
            </a:extLst>
          </p:cNvPr>
          <p:cNvSpPr txBox="1"/>
          <p:nvPr/>
        </p:nvSpPr>
        <p:spPr>
          <a:xfrm>
            <a:off x="502920" y="53766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9AA5BB"/>
                </a:solidFill>
                <a:latin typeface="Calibri"/>
              </a:rPr>
              <a:t>μ ± 1σ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775403-06EF-8C5A-6A59-CCC9C45EB454}"/>
              </a:ext>
            </a:extLst>
          </p:cNvPr>
          <p:cNvSpPr txBox="1"/>
          <p:nvPr/>
        </p:nvSpPr>
        <p:spPr>
          <a:xfrm>
            <a:off x="502920" y="5623560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B59A"/>
                </a:solidFill>
                <a:latin typeface="Calibri"/>
              </a:rPr>
              <a:t>₹77–₹569  (68%)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49099F6-E236-3A1B-5421-A3A053335902}"/>
              </a:ext>
            </a:extLst>
          </p:cNvPr>
          <p:cNvSpPr/>
          <p:nvPr/>
        </p:nvSpPr>
        <p:spPr>
          <a:xfrm>
            <a:off x="3081528" y="5321808"/>
            <a:ext cx="2514600" cy="594360"/>
          </a:xfrm>
          <a:prstGeom prst="rect">
            <a:avLst/>
          </a:prstGeom>
          <a:solidFill>
            <a:srgbClr val="1A1E35"/>
          </a:solidFill>
          <a:ln w="508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AF38183-2322-18DD-74AA-F4AA1221657C}"/>
              </a:ext>
            </a:extLst>
          </p:cNvPr>
          <p:cNvSpPr txBox="1"/>
          <p:nvPr/>
        </p:nvSpPr>
        <p:spPr>
          <a:xfrm>
            <a:off x="3200400" y="53766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9AA5BB"/>
                </a:solidFill>
                <a:latin typeface="Calibri"/>
              </a:rPr>
              <a:t>μ ± 2σ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79A0BA-1534-FBF1-52A5-E439D5A586CF}"/>
              </a:ext>
            </a:extLst>
          </p:cNvPr>
          <p:cNvSpPr txBox="1"/>
          <p:nvPr/>
        </p:nvSpPr>
        <p:spPr>
          <a:xfrm>
            <a:off x="3200400" y="5623560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B59A"/>
                </a:solidFill>
                <a:latin typeface="Calibri"/>
              </a:rPr>
              <a:t>₹0–₹815  (95%)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0FC3252-CD6C-3D19-C5D4-D099AF8619A1}"/>
              </a:ext>
            </a:extLst>
          </p:cNvPr>
          <p:cNvSpPr txBox="1"/>
          <p:nvPr/>
        </p:nvSpPr>
        <p:spPr>
          <a:xfrm>
            <a:off x="6355080" y="114300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B59A"/>
                </a:solidFill>
                <a:latin typeface="Georgia"/>
              </a:rPr>
              <a:t>Uniform Distribution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E672982-A4EC-99A4-86AB-56E24654277C}"/>
              </a:ext>
            </a:extLst>
          </p:cNvPr>
          <p:cNvSpPr txBox="1"/>
          <p:nvPr/>
        </p:nvSpPr>
        <p:spPr>
          <a:xfrm>
            <a:off x="6355080" y="1554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Concept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1B77090-E8E6-5178-FEFC-3731B23FF6C9}"/>
              </a:ext>
            </a:extLst>
          </p:cNvPr>
          <p:cNvSpPr/>
          <p:nvPr/>
        </p:nvSpPr>
        <p:spPr>
          <a:xfrm>
            <a:off x="6355080" y="1929384"/>
            <a:ext cx="137160" cy="137160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38986CE-0ADC-215E-11A5-5BFD842FEF13}"/>
              </a:ext>
            </a:extLst>
          </p:cNvPr>
          <p:cNvSpPr txBox="1"/>
          <p:nvPr/>
        </p:nvSpPr>
        <p:spPr>
          <a:xfrm>
            <a:off x="6611112" y="187451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Equal probability over any interval.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EC7129B-BC66-B425-8C65-EC13EB4D0C63}"/>
              </a:ext>
            </a:extLst>
          </p:cNvPr>
          <p:cNvSpPr/>
          <p:nvPr/>
        </p:nvSpPr>
        <p:spPr>
          <a:xfrm>
            <a:off x="6172200" y="2395728"/>
            <a:ext cx="5715000" cy="22860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13DDA2-D5A1-067C-193F-D16A12E2B2E3}"/>
              </a:ext>
            </a:extLst>
          </p:cNvPr>
          <p:cNvSpPr txBox="1"/>
          <p:nvPr/>
        </p:nvSpPr>
        <p:spPr>
          <a:xfrm>
            <a:off x="6355080" y="24871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Mathematics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84E0F7E-78EA-BE09-730A-BB400A786F86}"/>
              </a:ext>
            </a:extLst>
          </p:cNvPr>
          <p:cNvSpPr txBox="1"/>
          <p:nvPr/>
        </p:nvSpPr>
        <p:spPr>
          <a:xfrm>
            <a:off x="6355080" y="27889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60" b="0" i="1">
                <a:solidFill>
                  <a:srgbClr val="E8E4DC"/>
                </a:solidFill>
                <a:latin typeface="Georgia"/>
              </a:rPr>
              <a:t>f(x) = 1 / (b – a)   for  a ≤ x ≤ b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C76BC77-7252-8CD2-3FBB-A83090DFE09F}"/>
              </a:ext>
            </a:extLst>
          </p:cNvPr>
          <p:cNvSpPr/>
          <p:nvPr/>
        </p:nvSpPr>
        <p:spPr>
          <a:xfrm>
            <a:off x="6172200" y="3246120"/>
            <a:ext cx="5715000" cy="22860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7476065-EC72-100C-44D7-73CE65B96C0C}"/>
              </a:ext>
            </a:extLst>
          </p:cNvPr>
          <p:cNvSpPr txBox="1"/>
          <p:nvPr/>
        </p:nvSpPr>
        <p:spPr>
          <a:xfrm>
            <a:off x="6355080" y="3337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Code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914F939-DBE1-D910-3AC3-61E25BE9AE02}"/>
              </a:ext>
            </a:extLst>
          </p:cNvPr>
          <p:cNvSpPr/>
          <p:nvPr/>
        </p:nvSpPr>
        <p:spPr>
          <a:xfrm>
            <a:off x="6199632" y="3675887"/>
            <a:ext cx="5486400" cy="804672"/>
          </a:xfrm>
          <a:prstGeom prst="rect">
            <a:avLst/>
          </a:prstGeom>
          <a:solidFill>
            <a:srgbClr val="121626"/>
          </a:solidFill>
          <a:ln w="635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028781F-734B-A88F-89FF-6974AAC7CD9C}"/>
              </a:ext>
            </a:extLst>
          </p:cNvPr>
          <p:cNvSpPr/>
          <p:nvPr/>
        </p:nvSpPr>
        <p:spPr>
          <a:xfrm>
            <a:off x="6309360" y="3785615"/>
            <a:ext cx="411480" cy="256032"/>
          </a:xfrm>
          <a:prstGeom prst="rect">
            <a:avLst/>
          </a:prstGeom>
          <a:solidFill>
            <a:srgbClr val="2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34FE290-A803-0A4D-3D21-055D64E7DA9C}"/>
              </a:ext>
            </a:extLst>
          </p:cNvPr>
          <p:cNvSpPr txBox="1"/>
          <p:nvPr/>
        </p:nvSpPr>
        <p:spPr>
          <a:xfrm>
            <a:off x="6327648" y="3785615"/>
            <a:ext cx="3840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C8BA8"/>
                </a:solidFill>
                <a:latin typeface="Calibri"/>
              </a:rPr>
              <a:t>&lt;&gt; R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C606A44-6986-D192-1CE4-013822AA8A15}"/>
              </a:ext>
            </a:extLst>
          </p:cNvPr>
          <p:cNvSpPr txBox="1"/>
          <p:nvPr/>
        </p:nvSpPr>
        <p:spPr>
          <a:xfrm>
            <a:off x="6515100" y="3991356"/>
            <a:ext cx="521208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82AAFF"/>
                </a:solidFill>
                <a:latin typeface="Courier New"/>
              </a:rPr>
              <a:t>dunif</a:t>
            </a:r>
            <a:r>
              <a:rPr sz="1200" b="0" i="0" dirty="0">
                <a:solidFill>
                  <a:srgbClr val="82AAFF"/>
                </a:solidFill>
                <a:latin typeface="Courier New"/>
              </a:rPr>
              <a:t>(500, min=0, max=1000)
# Result: 0.001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F1831F6-F49C-BE46-9F97-27C7974431B9}"/>
              </a:ext>
            </a:extLst>
          </p:cNvPr>
          <p:cNvSpPr/>
          <p:nvPr/>
        </p:nvSpPr>
        <p:spPr>
          <a:xfrm>
            <a:off x="6172200" y="4572000"/>
            <a:ext cx="5715000" cy="22860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A73317E-7AAA-489D-13A9-4A7B4020C44D}"/>
              </a:ext>
            </a:extLst>
          </p:cNvPr>
          <p:cNvSpPr txBox="1"/>
          <p:nvPr/>
        </p:nvSpPr>
        <p:spPr>
          <a:xfrm>
            <a:off x="6355080" y="4663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Real-life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0CCE949-1EFF-CD20-FA80-A2B9CA9572FE}"/>
              </a:ext>
            </a:extLst>
          </p:cNvPr>
          <p:cNvSpPr/>
          <p:nvPr/>
        </p:nvSpPr>
        <p:spPr>
          <a:xfrm>
            <a:off x="6355080" y="5038344"/>
            <a:ext cx="137160" cy="137160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4EF2EF3-125D-5BD3-9A93-B41DB5C22784}"/>
              </a:ext>
            </a:extLst>
          </p:cNvPr>
          <p:cNvSpPr txBox="1"/>
          <p:nvPr/>
        </p:nvSpPr>
        <p:spPr>
          <a:xfrm>
            <a:off x="6611112" y="4983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Used when no outcome is favored.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1214140-8DC8-C7DE-7935-B73FDEF5390C}"/>
              </a:ext>
            </a:extLst>
          </p:cNvPr>
          <p:cNvSpPr/>
          <p:nvPr/>
        </p:nvSpPr>
        <p:spPr>
          <a:xfrm>
            <a:off x="6355080" y="5513832"/>
            <a:ext cx="137160" cy="137160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3A16824-439D-E38E-AB2B-DC97063274B1}"/>
              </a:ext>
            </a:extLst>
          </p:cNvPr>
          <p:cNvSpPr txBox="1"/>
          <p:nvPr/>
        </p:nvSpPr>
        <p:spPr>
          <a:xfrm>
            <a:off x="6611112" y="54589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E8E4DC"/>
                </a:solidFill>
                <a:latin typeface="Calibri"/>
              </a:rPr>
              <a:t>Theoretical baseline comparison.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C6705EB-8F2F-6A9F-08A0-3D6259391BA6}"/>
              </a:ext>
            </a:extLst>
          </p:cNvPr>
          <p:cNvSpPr/>
          <p:nvPr/>
        </p:nvSpPr>
        <p:spPr>
          <a:xfrm>
            <a:off x="6291072" y="5715000"/>
            <a:ext cx="5468112" cy="621792"/>
          </a:xfrm>
          <a:prstGeom prst="rect">
            <a:avLst/>
          </a:prstGeom>
          <a:solidFill>
            <a:srgbClr val="1A1E35"/>
          </a:solidFill>
          <a:ln w="508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FAB26F9-D794-149E-AAE8-B4B4ACA423D6}"/>
              </a:ext>
            </a:extLst>
          </p:cNvPr>
          <p:cNvSpPr txBox="1"/>
          <p:nvPr/>
        </p:nvSpPr>
        <p:spPr>
          <a:xfrm>
            <a:off x="6446520" y="5760720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AA5BB"/>
                </a:solidFill>
                <a:latin typeface="Calibri"/>
              </a:rPr>
              <a:t>dunif(500, min=0, max=1000) = 0.001
Every value equally likely — used as reference.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7E57FFD6-25F9-7FCF-4D2B-1800DCC1E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5409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54864"/>
          </a:xfrm>
          <a:prstGeom prst="rect">
            <a:avLst/>
          </a:prstGeom>
          <a:solidFill>
            <a:srgbClr val="2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28600" y="164592"/>
            <a:ext cx="384048" cy="384048"/>
          </a:xfrm>
          <a:prstGeom prst="ellipse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9202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6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7160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10. CLT, Engineering Relevance &amp;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94360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1" i="0">
                <a:solidFill>
                  <a:srgbClr val="E8A03C"/>
                </a:solidFill>
                <a:latin typeface="Calibri"/>
              </a:rPr>
              <a:t>Theme: Big Picture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11457432" cy="22860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3767328" cy="5440680"/>
          </a:xfrm>
          <a:prstGeom prst="rect">
            <a:avLst/>
          </a:prstGeom>
          <a:solidFill>
            <a:srgbClr val="222840"/>
          </a:solidFill>
          <a:ln w="635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3767328" cy="54864"/>
          </a:xfrm>
          <a:prstGeom prst="rect">
            <a:avLst/>
          </a:prstGeom>
          <a:solidFill>
            <a:srgbClr val="E8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" y="12344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60" b="1" i="0">
                <a:solidFill>
                  <a:srgbClr val="E8A03C"/>
                </a:solidFill>
                <a:latin typeface="Georgia"/>
              </a:rPr>
              <a:t>Central Limit Theorem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171907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 i="0">
                <a:solidFill>
                  <a:srgbClr val="FFFFFF"/>
                </a:solidFill>
                <a:latin typeface="Calibri"/>
              </a:rPr>
              <a:t>Central Limit Theorem (Theory)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219456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0" i="0">
                <a:solidFill>
                  <a:srgbClr val="E8E4DC"/>
                </a:solidFill>
                <a:latin typeface="Calibri"/>
              </a:rPr>
              <a:t>If sample size n is large: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26700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 i="0">
                <a:solidFill>
                  <a:srgbClr val="FFFFFF"/>
                </a:solidFill>
                <a:latin typeface="Calibri"/>
              </a:rPr>
              <a:t>X̄ ~ N(μ, σ²/n)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3145536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0" i="0">
                <a:solidFill>
                  <a:srgbClr val="E8E4DC"/>
                </a:solidFill>
                <a:latin typeface="Calibri"/>
              </a:rPr>
              <a:t>Even if population is skewed.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409651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 i="0">
                <a:solidFill>
                  <a:srgbClr val="FFFFFF"/>
                </a:solidFill>
                <a:latin typeface="Calibri"/>
              </a:rPr>
              <a:t>Why Important?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457200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0" i="0">
                <a:solidFill>
                  <a:srgbClr val="E8E4DC"/>
                </a:solidFill>
                <a:latin typeface="Calibri"/>
              </a:rPr>
              <a:t>• Enables confidence estimation.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504748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0" i="0">
                <a:solidFill>
                  <a:srgbClr val="E8E4DC"/>
                </a:solidFill>
                <a:latin typeface="Calibri"/>
              </a:rPr>
              <a:t>• Allows normal approximation.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59" y="1143000"/>
            <a:ext cx="3767328" cy="5440680"/>
          </a:xfrm>
          <a:prstGeom prst="rect">
            <a:avLst/>
          </a:prstGeom>
          <a:solidFill>
            <a:srgbClr val="222840"/>
          </a:solidFill>
          <a:ln w="635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51959" y="1143000"/>
            <a:ext cx="3767328" cy="54864"/>
          </a:xfrm>
          <a:prstGeom prst="rect">
            <a:avLst/>
          </a:prstGeom>
          <a:solidFill>
            <a:srgbClr val="2EB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16551" y="12344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60" b="1" i="0">
                <a:solidFill>
                  <a:srgbClr val="2EB59A"/>
                </a:solidFill>
                <a:latin typeface="Georgia"/>
              </a:rPr>
              <a:t>Engineering Relevance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1" y="171907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 i="0">
                <a:solidFill>
                  <a:srgbClr val="FFFFFF"/>
                </a:solidFill>
                <a:latin typeface="Calibri"/>
              </a:rPr>
              <a:t>Engineering / Practical Relevance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6551" y="219456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0" i="0">
                <a:solidFill>
                  <a:srgbClr val="E8E4DC"/>
                </a:solidFill>
                <a:latin typeface="Calibri"/>
              </a:rPr>
              <a:t>• Statistical modeling reduces uncertainty.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1" y="26700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0" i="0">
                <a:solidFill>
                  <a:srgbClr val="E8E4DC"/>
                </a:solidFill>
                <a:latin typeface="Calibri"/>
              </a:rPr>
              <a:t>• Predictive models assist operations.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6551" y="3145536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0" i="0">
                <a:solidFill>
                  <a:srgbClr val="E8E4DC"/>
                </a:solidFill>
                <a:latin typeface="Calibri"/>
              </a:rPr>
              <a:t>• Data-driven optimization.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1" y="409651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 i="0">
                <a:solidFill>
                  <a:srgbClr val="FFFFFF"/>
                </a:solidFill>
                <a:latin typeface="Calibri"/>
              </a:rPr>
              <a:t>R Code (CLT Simulation):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6551" y="457200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0" i="0">
                <a:solidFill>
                  <a:srgbClr val="E8E4DC"/>
                </a:solidFill>
                <a:latin typeface="Calibri"/>
              </a:rPr>
              <a:t>sample_means &lt;- replicate(1000,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6551" y="504748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0" i="0">
                <a:solidFill>
                  <a:srgbClr val="E8E4DC"/>
                </a:solidFill>
                <a:latin typeface="Calibri"/>
              </a:rPr>
              <a:t>  mean(sample(df$Sales,30,T)))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1143000"/>
            <a:ext cx="3767328" cy="5440680"/>
          </a:xfrm>
          <a:prstGeom prst="rect">
            <a:avLst/>
          </a:prstGeom>
          <a:solidFill>
            <a:srgbClr val="222840"/>
          </a:solidFill>
          <a:ln w="635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29600" y="1143000"/>
            <a:ext cx="3767328" cy="54864"/>
          </a:xfrm>
          <a:prstGeom prst="rect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94192" y="12344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60" b="1" i="0">
                <a:solidFill>
                  <a:srgbClr val="8B6BD4"/>
                </a:solidFill>
                <a:latin typeface="Georgia"/>
              </a:rPr>
              <a:t>Final Conclusion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171907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 i="0">
                <a:solidFill>
                  <a:srgbClr val="FFFFFF"/>
                </a:solidFill>
                <a:latin typeface="Calibri"/>
              </a:rPr>
              <a:t>Final Conclusion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219456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0" i="0">
                <a:solidFill>
                  <a:srgbClr val="E8E4DC"/>
                </a:solidFill>
                <a:latin typeface="Calibri"/>
              </a:rPr>
              <a:t>• Sales show positive skew.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26700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0" i="0">
                <a:solidFill>
                  <a:srgbClr val="E8E4DC"/>
                </a:solidFill>
                <a:latin typeface="Calibri"/>
              </a:rPr>
              <a:t>• Arrival fits Poisson (λ=1.62).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94192" y="3145536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0" i="0">
                <a:solidFill>
                  <a:srgbClr val="E8E4DC"/>
                </a:solidFill>
                <a:latin typeface="Calibri"/>
              </a:rPr>
              <a:t>• Bayes guides marketing (52.9%).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94192" y="3621024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0" i="0">
                <a:solidFill>
                  <a:srgbClr val="E8E4DC"/>
                </a:solidFill>
                <a:latin typeface="Calibri"/>
              </a:rPr>
              <a:t>• Binomial models membership.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94192" y="409651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0" i="0">
                <a:solidFill>
                  <a:srgbClr val="E8E4DC"/>
                </a:solidFill>
                <a:latin typeface="Calibri"/>
              </a:rPr>
              <a:t>• Normal distribution fits sales.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94192" y="457200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0" i="0">
                <a:solidFill>
                  <a:srgbClr val="E8E4DC"/>
                </a:solidFill>
                <a:latin typeface="Calibri"/>
              </a:rPr>
              <a:t>• Uniform = theoretical baseline.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6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40" b="1" i="0">
                <a:solidFill>
                  <a:srgbClr val="FFFFFF"/>
                </a:solidFill>
                <a:latin typeface="Georgia"/>
              </a:rPr>
              <a:t>Results &amp;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57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0" i="1">
                <a:solidFill>
                  <a:srgbClr val="9AA5BB"/>
                </a:solidFill>
                <a:latin typeface="Calibri"/>
              </a:rPr>
              <a:t>What the numbers from SuperMarket_Analysis.csv actually tell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57432" cy="22860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669280" cy="1708672"/>
          </a:xfrm>
          <a:prstGeom prst="rect">
            <a:avLst/>
          </a:prstGeom>
          <a:solidFill>
            <a:srgbClr val="222840"/>
          </a:solidFill>
          <a:ln w="635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669280" cy="54864"/>
          </a:xfrm>
          <a:prstGeom prst="rect">
            <a:avLst/>
          </a:prstGeom>
          <a:solidFill>
            <a:srgbClr val="E8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highlight>
                <a:srgbClr val="00FFFF"/>
              </a:highligh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26280" y="1307592"/>
            <a:ext cx="1261872" cy="804672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26280" y="1307592"/>
            <a:ext cx="12618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" b="1" i="0">
                <a:solidFill>
                  <a:srgbClr val="E8A03C"/>
                </a:solidFill>
                <a:latin typeface="Calibri"/>
              </a:rPr>
              <a:t>Mean &gt; Median
= Positive Skew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307592"/>
            <a:ext cx="40050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60" b="1" i="0" dirty="0">
                <a:solidFill>
                  <a:srgbClr val="E8A03C"/>
                </a:solidFill>
                <a:latin typeface="Georgia"/>
              </a:rPr>
              <a:t>📊  Right-Skewed 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240" y="1722997"/>
            <a:ext cx="40050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0" i="0" dirty="0">
                <a:solidFill>
                  <a:srgbClr val="E8E4DC"/>
                </a:solidFill>
                <a:latin typeface="Calibri"/>
              </a:rPr>
              <a:t>Mean ₹322.97 &gt; Median ₹254.02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089" y="2036826"/>
            <a:ext cx="40050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0" i="0">
                <a:solidFill>
                  <a:srgbClr val="E8E4DC"/>
                </a:solidFill>
                <a:latin typeface="Calibri"/>
              </a:rPr>
              <a:t>Most customers spend below ₹254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345039"/>
            <a:ext cx="40050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0" i="0">
                <a:solidFill>
                  <a:srgbClr val="E8E4DC"/>
                </a:solidFill>
                <a:latin typeface="Calibri"/>
              </a:rPr>
              <a:t>Few high-value purchases skew the mean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43000"/>
            <a:ext cx="5669280" cy="1722834"/>
          </a:xfrm>
          <a:prstGeom prst="rect">
            <a:avLst/>
          </a:prstGeom>
          <a:solidFill>
            <a:srgbClr val="222840"/>
          </a:solidFill>
          <a:ln w="635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143000"/>
            <a:ext cx="5669280" cy="54864"/>
          </a:xfrm>
          <a:prstGeom prst="rect">
            <a:avLst/>
          </a:prstGeom>
          <a:solidFill>
            <a:srgbClr val="2EB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469880" y="1307592"/>
            <a:ext cx="1261872" cy="804672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469880" y="1307592"/>
            <a:ext cx="12618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" b="1" i="0">
                <a:solidFill>
                  <a:srgbClr val="2EB59A"/>
                </a:solidFill>
                <a:latin typeface="Calibri"/>
              </a:rPr>
              <a:t>P(Mbr|Elec)
= 52.94%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1307592"/>
            <a:ext cx="40050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60" b="1" i="0">
                <a:solidFill>
                  <a:srgbClr val="2EB59A"/>
                </a:solidFill>
                <a:latin typeface="Georgia"/>
              </a:rPr>
              <a:t>🔵  Bayes 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730772"/>
            <a:ext cx="40050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0" i="0">
                <a:solidFill>
                  <a:srgbClr val="E8E4DC"/>
                </a:solidFill>
                <a:latin typeface="Calibri"/>
              </a:rPr>
              <a:t>P(Member | Electronics) = 0.5294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078244"/>
            <a:ext cx="40050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0" i="0">
                <a:solidFill>
                  <a:srgbClr val="E8E4DC"/>
                </a:solidFill>
                <a:latin typeface="Calibri"/>
              </a:rPr>
              <a:t>52.9% of electronics buyers are Members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384360"/>
            <a:ext cx="40050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0" i="0">
                <a:solidFill>
                  <a:srgbClr val="E8E4DC"/>
                </a:solidFill>
                <a:latin typeface="Calibri"/>
              </a:rPr>
              <a:t>Target non-members for upgrade offers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" y="3143250"/>
            <a:ext cx="5669280" cy="1669226"/>
          </a:xfrm>
          <a:prstGeom prst="rect">
            <a:avLst/>
          </a:prstGeom>
          <a:solidFill>
            <a:srgbClr val="222840"/>
          </a:solidFill>
          <a:ln w="635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Rectangle 22"/>
          <p:cNvSpPr/>
          <p:nvPr/>
        </p:nvSpPr>
        <p:spPr>
          <a:xfrm>
            <a:off x="254951" y="3157536"/>
            <a:ext cx="5669280" cy="54864"/>
          </a:xfrm>
          <a:prstGeom prst="rect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620522" y="3473943"/>
            <a:ext cx="1261872" cy="525756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4567034" y="3515869"/>
            <a:ext cx="12618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" b="1" i="0" dirty="0">
                <a:solidFill>
                  <a:srgbClr val="8B6BD4"/>
                </a:solidFill>
                <a:latin typeface="Calibri"/>
              </a:rPr>
              <a:t>λ = 1.62
arrivals/</a:t>
            </a:r>
            <a:r>
              <a:rPr sz="1080" b="1" i="0" dirty="0" err="1">
                <a:solidFill>
                  <a:srgbClr val="8B6BD4"/>
                </a:solidFill>
                <a:latin typeface="Calibri"/>
              </a:rPr>
              <a:t>hr</a:t>
            </a:r>
            <a:endParaRPr sz="1080" b="1" i="0" dirty="0">
              <a:solidFill>
                <a:srgbClr val="8B6BD4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76279" y="3379128"/>
            <a:ext cx="40050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60" b="1" i="0" dirty="0">
                <a:solidFill>
                  <a:srgbClr val="8B6BD4"/>
                </a:solidFill>
                <a:latin typeface="Georgia"/>
              </a:rPr>
              <a:t>📉  Poisson Arrivals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7" y="3853950"/>
            <a:ext cx="40050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0" i="0" dirty="0">
                <a:solidFill>
                  <a:srgbClr val="E8E4DC"/>
                </a:solidFill>
                <a:latin typeface="Calibri"/>
              </a:rPr>
              <a:t>λ = 1.62 customers per hour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" y="4161085"/>
            <a:ext cx="40050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0" i="0" dirty="0">
                <a:solidFill>
                  <a:srgbClr val="E8E4DC"/>
                </a:solidFill>
                <a:latin typeface="Calibri"/>
              </a:rPr>
              <a:t>P(X=1) = 32.1% → most common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5" y="4474943"/>
            <a:ext cx="40050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0" i="0" dirty="0">
                <a:solidFill>
                  <a:srgbClr val="E8E4DC"/>
                </a:solidFill>
                <a:latin typeface="Calibri"/>
              </a:rPr>
              <a:t>Schedule minimal off-peak staff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36208" y="3127518"/>
            <a:ext cx="5669280" cy="1723643"/>
          </a:xfrm>
          <a:prstGeom prst="rect">
            <a:avLst/>
          </a:prstGeom>
          <a:solidFill>
            <a:srgbClr val="222840"/>
          </a:solidFill>
          <a:ln w="635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1" name="Rectangle 30"/>
          <p:cNvSpPr/>
          <p:nvPr/>
        </p:nvSpPr>
        <p:spPr>
          <a:xfrm>
            <a:off x="6217920" y="3115818"/>
            <a:ext cx="5669280" cy="54864"/>
          </a:xfrm>
          <a:prstGeom prst="rect">
            <a:avLst/>
          </a:prstGeom>
          <a:solidFill>
            <a:srgbClr val="D6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0561320" y="3456432"/>
            <a:ext cx="1261872" cy="804672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668983" y="3557016"/>
            <a:ext cx="12618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" b="1" i="0">
                <a:solidFill>
                  <a:srgbClr val="D65F5F"/>
                </a:solidFill>
                <a:latin typeface="Calibri"/>
              </a:rPr>
              <a:t>Giza leads
₹337/txn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4730" y="3407615"/>
            <a:ext cx="40050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60" b="1" i="0" dirty="0">
                <a:solidFill>
                  <a:srgbClr val="D65F5F"/>
                </a:solidFill>
                <a:latin typeface="Georgia"/>
              </a:rPr>
              <a:t>🏪  Branch Analysis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5664" y="3873959"/>
            <a:ext cx="40050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0" i="0">
                <a:solidFill>
                  <a:srgbClr val="E8E4DC"/>
                </a:solidFill>
                <a:latin typeface="Calibri"/>
              </a:rPr>
              <a:t>Giza: ₹337.10 avg — highest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0297" y="4150565"/>
            <a:ext cx="40050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0" i="0" dirty="0">
                <a:solidFill>
                  <a:srgbClr val="E8E4DC"/>
                </a:solidFill>
                <a:latin typeface="Calibri"/>
              </a:rPr>
              <a:t>Cairo: ₹319.87 — Fashion (99 </a:t>
            </a:r>
            <a:r>
              <a:rPr sz="1260" b="0" i="0" dirty="0" err="1">
                <a:solidFill>
                  <a:srgbClr val="E8E4DC"/>
                </a:solidFill>
                <a:latin typeface="Calibri"/>
              </a:rPr>
              <a:t>txns</a:t>
            </a:r>
            <a:r>
              <a:rPr sz="1260" b="0" i="0" dirty="0">
                <a:solidFill>
                  <a:srgbClr val="E8E4DC"/>
                </a:solidFill>
                <a:latin typeface="Calibri"/>
              </a:rPr>
              <a:t>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197" y="4507182"/>
            <a:ext cx="40050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0" i="0">
                <a:solidFill>
                  <a:srgbClr val="E8E4DC"/>
                </a:solidFill>
                <a:latin typeface="Calibri"/>
              </a:rPr>
              <a:t>Alex: ₹312.35 — needs upsell strategy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4951" y="5147726"/>
            <a:ext cx="5669280" cy="1509105"/>
          </a:xfrm>
          <a:prstGeom prst="rect">
            <a:avLst/>
          </a:prstGeom>
          <a:solidFill>
            <a:srgbClr val="222840"/>
          </a:solidFill>
          <a:ln w="635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9" name="Rectangle 38"/>
          <p:cNvSpPr/>
          <p:nvPr/>
        </p:nvSpPr>
        <p:spPr>
          <a:xfrm>
            <a:off x="392111" y="5115945"/>
            <a:ext cx="5532120" cy="59436"/>
          </a:xfrm>
          <a:prstGeom prst="rect">
            <a:avLst/>
          </a:prstGeom>
          <a:solidFill>
            <a:srgbClr val="E8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653313" y="5244083"/>
            <a:ext cx="1188720" cy="749808"/>
          </a:xfrm>
          <a:prstGeom prst="rect">
            <a:avLst/>
          </a:prstGeom>
          <a:solidFill>
            <a:srgbClr val="1A1E35"/>
          </a:solidFill>
          <a:ln w="381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745736" y="5372100"/>
            <a:ext cx="1188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20" b="1" i="0">
                <a:solidFill>
                  <a:srgbClr val="E8A03C"/>
                </a:solidFill>
                <a:latin typeface="Georgia"/>
              </a:rPr>
              <a:t>Peak at k=6
24.47% prob.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2111" y="5286830"/>
            <a:ext cx="4069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80" b="1" i="0" dirty="0">
                <a:solidFill>
                  <a:srgbClr val="E8A03C"/>
                </a:solidFill>
                <a:latin typeface="Georgia"/>
              </a:rPr>
              <a:t>📊  Binomial Peak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1960" y="5724144"/>
            <a:ext cx="395935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0" i="0" dirty="0">
                <a:solidFill>
                  <a:srgbClr val="E8E4DC"/>
                </a:solidFill>
                <a:latin typeface="Calibri"/>
              </a:rPr>
              <a:t>6 Members per 10 customers (24.47%) is most likely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1772" y="6010311"/>
            <a:ext cx="395935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0" i="0" dirty="0">
                <a:solidFill>
                  <a:srgbClr val="E8E4DC"/>
                </a:solidFill>
                <a:latin typeface="Calibri"/>
              </a:rPr>
              <a:t>P(X=6) = 0.2447 — highest probability in PMF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8912" y="6304788"/>
            <a:ext cx="395935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0" i="0" dirty="0">
                <a:solidFill>
                  <a:srgbClr val="E8E4DC"/>
                </a:solidFill>
                <a:latin typeface="Calibri"/>
              </a:rPr>
              <a:t>p = 0.565 → majority of customers are Members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4594" y="5069943"/>
            <a:ext cx="5669279" cy="1564434"/>
          </a:xfrm>
          <a:prstGeom prst="rect">
            <a:avLst/>
          </a:prstGeom>
          <a:solidFill>
            <a:srgbClr val="222840"/>
          </a:solidFill>
          <a:ln w="635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264594" y="5107193"/>
            <a:ext cx="5640894" cy="45719"/>
          </a:xfrm>
          <a:prstGeom prst="rect">
            <a:avLst/>
          </a:prstGeom>
          <a:solidFill>
            <a:srgbClr val="2EB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0608555" y="5379227"/>
            <a:ext cx="1188720" cy="749808"/>
          </a:xfrm>
          <a:prstGeom prst="rect">
            <a:avLst/>
          </a:prstGeom>
          <a:solidFill>
            <a:srgbClr val="1A1E35"/>
          </a:solidFill>
          <a:ln w="381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528942" y="5527374"/>
            <a:ext cx="1188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20" b="1" i="0" dirty="0">
                <a:solidFill>
                  <a:srgbClr val="2EB59A"/>
                </a:solidFill>
                <a:latin typeface="Georgia"/>
              </a:rPr>
              <a:t>68% range
₹77–₹569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00617" y="5266403"/>
            <a:ext cx="4069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80" b="1" i="0">
                <a:solidFill>
                  <a:srgbClr val="2EB59A"/>
                </a:solidFill>
                <a:latin typeface="Georgia"/>
              </a:rPr>
              <a:t>📐  Confidence Range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39452" y="5615620"/>
            <a:ext cx="395935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0" i="0" dirty="0">
                <a:solidFill>
                  <a:srgbClr val="E8E4DC"/>
                </a:solidFill>
                <a:latin typeface="Calibri"/>
              </a:rPr>
              <a:t>68% of all customers spend within ₹77 – ₹569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45352" y="5893307"/>
            <a:ext cx="395935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0" i="0" dirty="0">
                <a:solidFill>
                  <a:srgbClr val="E8E4DC"/>
                </a:solidFill>
                <a:latin typeface="Calibri"/>
              </a:rPr>
              <a:t>Defined by μ ± 1σ  →  322.97 ± 245.89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00617" y="6231932"/>
            <a:ext cx="395935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0" i="0" dirty="0">
                <a:solidFill>
                  <a:srgbClr val="E8E4DC"/>
                </a:solidFill>
                <a:latin typeface="Calibri"/>
              </a:rPr>
              <a:t>Normal distribution confirms bell-curve sales pattern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-1097280"/>
            <a:ext cx="5486400" cy="5486400"/>
          </a:xfrm>
          <a:prstGeom prst="ellipse">
            <a:avLst/>
          </a:prstGeom>
          <a:solidFill>
            <a:srgbClr val="2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3840480"/>
            <a:ext cx="3657600" cy="3657600"/>
          </a:xfrm>
          <a:prstGeom prst="ellipse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20" b="0" i="1">
                <a:solidFill>
                  <a:srgbClr val="E8A03C"/>
                </a:solidFill>
                <a:latin typeface="Georgia"/>
              </a:rPr>
              <a:t>Project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20" b="1" i="0">
                <a:solidFill>
                  <a:srgbClr val="FFFFFF"/>
                </a:solidFill>
                <a:latin typeface="Georgia"/>
              </a:rPr>
              <a:t>Key Takeaways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7772400" cy="22860"/>
          </a:xfrm>
          <a:prstGeom prst="rect">
            <a:avLst/>
          </a:prstGeom>
          <a:solidFill>
            <a:srgbClr val="35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502920" cy="530352"/>
          </a:xfrm>
          <a:prstGeom prst="rect">
            <a:avLst/>
          </a:prstGeom>
          <a:solidFill>
            <a:srgbClr val="E8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" b="1" i="0">
                <a:solidFill>
                  <a:srgbClr val="FFFFFF"/>
                </a:solidFill>
                <a:latin typeface="Calibri"/>
              </a:rPr>
              <a:t>S1–2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3317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 i="0">
                <a:solidFill>
                  <a:srgbClr val="E8A03C"/>
                </a:solidFill>
                <a:latin typeface="Calibri"/>
              </a:rPr>
              <a:t>Context &amp;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33172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0" i="0">
                <a:solidFill>
                  <a:srgbClr val="E8E4DC"/>
                </a:solidFill>
                <a:latin typeface="Calibri"/>
              </a:rPr>
              <a:t>1,000 transactions from 3 branches, imported &amp; explored in 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53512"/>
            <a:ext cx="502920" cy="530352"/>
          </a:xfrm>
          <a:prstGeom prst="rect">
            <a:avLst/>
          </a:prstGeom>
          <a:solidFill>
            <a:srgbClr val="2EB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304495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" b="1" i="0">
                <a:solidFill>
                  <a:srgbClr val="FFFFFF"/>
                </a:solidFill>
                <a:latin typeface="Calibri"/>
              </a:rPr>
              <a:t>S3–4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99923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 i="0">
                <a:solidFill>
                  <a:srgbClr val="2EB59A"/>
                </a:solidFill>
                <a:latin typeface="Calibri"/>
              </a:rPr>
              <a:t>Statistics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999232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0" i="0">
                <a:solidFill>
                  <a:srgbClr val="E8E4DC"/>
                </a:solidFill>
                <a:latin typeface="Calibri"/>
              </a:rPr>
              <a:t>Mean ₹322.97, Median ₹254.02 — right-skewed distribution confirmed.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21024"/>
            <a:ext cx="502920" cy="530352"/>
          </a:xfrm>
          <a:prstGeom prst="rect">
            <a:avLst/>
          </a:prstGeom>
          <a:solidFill>
            <a:srgbClr val="8B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712463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" b="1" i="0">
                <a:solidFill>
                  <a:srgbClr val="FFFFFF"/>
                </a:solidFill>
                <a:latin typeface="Calibri"/>
              </a:rPr>
              <a:t>S5–6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366674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 i="0">
                <a:solidFill>
                  <a:srgbClr val="8B6BD4"/>
                </a:solidFill>
                <a:latin typeface="Calibri"/>
              </a:rPr>
              <a:t>Visualization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666744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0" i="0">
                <a:solidFill>
                  <a:srgbClr val="E8E4DC"/>
                </a:solidFill>
                <a:latin typeface="Calibri"/>
              </a:rPr>
              <a:t>Histograms, barplots &amp; heatmaps show product and branch patterns.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288536"/>
            <a:ext cx="502920" cy="530352"/>
          </a:xfrm>
          <a:prstGeom prst="rect">
            <a:avLst/>
          </a:prstGeom>
          <a:solidFill>
            <a:srgbClr val="D6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4379975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" b="1" i="0">
                <a:solidFill>
                  <a:srgbClr val="FFFFFF"/>
                </a:solidFill>
                <a:latin typeface="Calibri"/>
              </a:rPr>
              <a:t>S7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334255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 i="0">
                <a:solidFill>
                  <a:srgbClr val="D65F5F"/>
                </a:solidFill>
                <a:latin typeface="Calibri"/>
              </a:rPr>
              <a:t>Bayes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4334255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0" i="0">
                <a:solidFill>
                  <a:srgbClr val="E8E4DC"/>
                </a:solidFill>
                <a:latin typeface="Calibri"/>
              </a:rPr>
              <a:t>P(Member|Electronics) = 0.5294 — drives targeted member campaigns.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956048"/>
            <a:ext cx="502920" cy="530352"/>
          </a:xfrm>
          <a:prstGeom prst="rect">
            <a:avLst/>
          </a:prstGeom>
          <a:solidFill>
            <a:srgbClr val="E8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504748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" b="1" i="0">
                <a:solidFill>
                  <a:srgbClr val="FFFFFF"/>
                </a:solidFill>
                <a:latin typeface="Calibri"/>
              </a:rPr>
              <a:t>S8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500176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 i="0">
                <a:solidFill>
                  <a:srgbClr val="E8A03C"/>
                </a:solidFill>
                <a:latin typeface="Calibri"/>
              </a:rPr>
              <a:t>Binomial/Poisson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5001768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0" i="0">
                <a:solidFill>
                  <a:srgbClr val="E8E4DC"/>
                </a:solidFill>
                <a:latin typeface="Calibri"/>
              </a:rPr>
              <a:t>P(3 Members in 10) = 6.38%  ·  λ = 1.62 arrivals/hr.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623560"/>
            <a:ext cx="502920" cy="530352"/>
          </a:xfrm>
          <a:prstGeom prst="rect">
            <a:avLst/>
          </a:prstGeom>
          <a:solidFill>
            <a:srgbClr val="2EB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571500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" b="1" i="0">
                <a:solidFill>
                  <a:srgbClr val="FFFFFF"/>
                </a:solidFill>
                <a:latin typeface="Calibri"/>
              </a:rPr>
              <a:t>S9–10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" y="56692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 i="0">
                <a:solidFill>
                  <a:srgbClr val="2EB59A"/>
                </a:solidFill>
                <a:latin typeface="Calibri"/>
              </a:rPr>
              <a:t>Distributions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566928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b="0" i="0">
                <a:solidFill>
                  <a:srgbClr val="E8E4DC"/>
                </a:solidFill>
                <a:latin typeface="Calibri"/>
              </a:rPr>
              <a:t>Normal ~ N(323,246), Uniform = baseline, CLT validates inference.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291072"/>
            <a:ext cx="7772400" cy="384048"/>
          </a:xfrm>
          <a:prstGeom prst="rect">
            <a:avLst/>
          </a:prstGeom>
          <a:solidFill>
            <a:srgbClr val="222840"/>
          </a:solidFill>
          <a:ln w="5080">
            <a:solidFill>
              <a:srgbClr val="35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" y="6327648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1">
                <a:solidFill>
                  <a:srgbClr val="9AA5BB"/>
                </a:solidFill>
                <a:latin typeface="Calibri"/>
              </a:rPr>
              <a:t>Tools: R  ·  Data: SuperMarket_Analysis.csv  ·  Methods: Descriptive · Bayes · Binomial · Poisson · Normal · Uniform · CLT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2551</Words>
  <Application>Microsoft Office PowerPoint</Application>
  <PresentationFormat>Custom</PresentationFormat>
  <Paragraphs>444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NAWAZ PATHAN</dc:creator>
  <cp:keywords/>
  <dc:description>generated using python-pptx</dc:description>
  <cp:lastModifiedBy>MOHAMMADNAWAZ PATHAN</cp:lastModifiedBy>
  <cp:revision>21</cp:revision>
  <dcterms:created xsi:type="dcterms:W3CDTF">2013-01-27T09:14:16Z</dcterms:created>
  <dcterms:modified xsi:type="dcterms:W3CDTF">2026-03-18T10:42:01Z</dcterms:modified>
  <cp:category/>
</cp:coreProperties>
</file>